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  <p:sldMasterId id="2147483721" r:id="rId3"/>
    <p:sldMasterId id="2147483733" r:id="rId4"/>
  </p:sldMasterIdLst>
  <p:notesMasterIdLst>
    <p:notesMasterId r:id="rId54"/>
  </p:notesMasterIdLst>
  <p:sldIdLst>
    <p:sldId id="256" r:id="rId5"/>
    <p:sldId id="261" r:id="rId6"/>
    <p:sldId id="257" r:id="rId7"/>
    <p:sldId id="263" r:id="rId8"/>
    <p:sldId id="262" r:id="rId9"/>
    <p:sldId id="260" r:id="rId10"/>
    <p:sldId id="259" r:id="rId11"/>
    <p:sldId id="267" r:id="rId12"/>
    <p:sldId id="268" r:id="rId13"/>
    <p:sldId id="258" r:id="rId14"/>
    <p:sldId id="264" r:id="rId15"/>
    <p:sldId id="269" r:id="rId16"/>
    <p:sldId id="278" r:id="rId17"/>
    <p:sldId id="276" r:id="rId18"/>
    <p:sldId id="277" r:id="rId19"/>
    <p:sldId id="265" r:id="rId20"/>
    <p:sldId id="266" r:id="rId21"/>
    <p:sldId id="273" r:id="rId22"/>
    <p:sldId id="280" r:id="rId23"/>
    <p:sldId id="27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306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>
      <p:cViewPr varScale="1">
        <p:scale>
          <a:sx n="132" d="100"/>
          <a:sy n="132" d="100"/>
        </p:scale>
        <p:origin x="10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848F8-FABC-8746-ADA8-79047E18C03E}" type="datetimeFigureOut">
              <a:rPr lang="tr-US" smtClean="0"/>
              <a:t>4/8/26</a:t>
            </a:fld>
            <a:endParaRPr lang="tr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8151A-3AFC-0845-A102-67CE29C141ED}" type="slidenum">
              <a:rPr lang="tr-US" smtClean="0"/>
              <a:t>‹#›</a:t>
            </a:fld>
            <a:endParaRPr lang="tr-US"/>
          </a:p>
        </p:txBody>
      </p:sp>
    </p:spTree>
    <p:extLst>
      <p:ext uri="{BB962C8B-B14F-4D97-AF65-F5344CB8AC3E}">
        <p14:creationId xmlns:p14="http://schemas.microsoft.com/office/powerpoint/2010/main" val="25502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DA6140-4433-4F86-9DF8-BD3ADF1B12E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16A7C5-46B3-4C9F-B03B-A902A7A4AB8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1FDB9F-F1C4-455E-921B-57DA35BE2E21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altLang="ko-KR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altLang="ko-KR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altLang="ko-KR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ko-KR"/>
              <a:t>Click to edit Master text styles</a:t>
            </a:r>
          </a:p>
          <a:p>
            <a:pPr lvl="1" eaLnBrk="1" latinLnBrk="0" hangingPunct="1"/>
            <a:r>
              <a:rPr lang="en-US" altLang="ko-KR"/>
              <a:t>Second level</a:t>
            </a:r>
          </a:p>
          <a:p>
            <a:pPr lvl="2" eaLnBrk="1" latinLnBrk="0" hangingPunct="1"/>
            <a:r>
              <a:rPr lang="en-US" altLang="ko-KR"/>
              <a:t>Third level</a:t>
            </a:r>
          </a:p>
          <a:p>
            <a:pPr lvl="3" eaLnBrk="1" latinLnBrk="0" hangingPunct="1"/>
            <a:r>
              <a:rPr lang="en-US" altLang="ko-KR"/>
              <a:t>Fourth level</a:t>
            </a:r>
          </a:p>
          <a:p>
            <a:pPr lvl="4" eaLnBrk="1" latinLnBrk="0" hangingPunct="1"/>
            <a:r>
              <a:rPr lang="en-US" altLang="ko-KR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 spd="med">
    <p:sndAc>
      <p:stSnd>
        <p:snd r:embed="rId1" name="whoosh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39D3F0F-408E-4A0B-9222-F29209935A4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1497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D4326-92B0-4E9B-B0F9-FE611D63E6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9299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FB66207-85B9-472D-8D76-B42F82291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43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F399B-B3ED-4297-9526-B89BB4C955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45106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A3286-FCC6-4084-B0F9-70C1886B63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68612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A2FDE-9F16-478F-84B1-1EA3FBD5F8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79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2E3B1-4869-4B1B-B5F2-843BB48B8C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60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B4AE-44FF-4AF7-B675-1F3862344E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93666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277B90E-3822-4B79-BF29-AC1D26B6C0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56565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F927-191E-4A63-9F79-B0FC5437DDB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75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D02FC-32E9-4F53-A809-9345E81E0C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034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861FDCA-017A-4954-9116-4754BCECD7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35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14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551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17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388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672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529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75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466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114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64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720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3674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91279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2173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54904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02136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02381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38231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84060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29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35033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949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 altLang="ko-KR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ko-KR"/>
              <a:t>Click to edit Master text styles</a:t>
            </a:r>
          </a:p>
          <a:p>
            <a:pPr lvl="1" eaLnBrk="1" latinLnBrk="0" hangingPunct="1"/>
            <a:r>
              <a:rPr kumimoji="0" lang="en-US" altLang="ko-KR"/>
              <a:t>Second level</a:t>
            </a:r>
          </a:p>
          <a:p>
            <a:pPr lvl="2" eaLnBrk="1" latinLnBrk="0" hangingPunct="1"/>
            <a:r>
              <a:rPr kumimoji="0" lang="en-US" altLang="ko-KR"/>
              <a:t>Third level</a:t>
            </a:r>
          </a:p>
          <a:p>
            <a:pPr lvl="3" eaLnBrk="1" latinLnBrk="0" hangingPunct="1"/>
            <a:r>
              <a:rPr kumimoji="0" lang="en-US" altLang="ko-KR"/>
              <a:t>Fourth level</a:t>
            </a:r>
          </a:p>
          <a:p>
            <a:pPr lvl="4" eaLnBrk="1" latinLnBrk="0" hangingPunct="1"/>
            <a:r>
              <a:rPr kumimoji="0" lang="en-US" altLang="ko-KR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F74E382-B10F-4F22-914D-1D46DF976B08}" type="datetimeFigureOut">
              <a:rPr lang="ko-KR" altLang="en-US" smtClean="0"/>
              <a:pPr/>
              <a:t>2026. 4. 8.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530BD56-21E8-44F0-A3E1-3F9C0EA6D1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sndAc>
      <p:stSnd>
        <p:snd r:embed="rId13" name="whoosh.wav"/>
      </p:stSnd>
    </p:sndAc>
  </p:transition>
  <p:txStyles>
    <p:titleStyle>
      <a:lvl1pPr algn="l" rtl="0" eaLnBrk="1" latinLnBrk="1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1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1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1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1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1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1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1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1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1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18BFF0B-868A-491A-9A90-8325F269BB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3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FA2A3-79B7-443D-A984-2A1293E83591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95DF1-86E4-42A7-ACC5-001A204CB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6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8.04.2026</a:t>
            </a:fld>
            <a:endParaRPr lang="tr-T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89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844824"/>
            <a:ext cx="3456384" cy="1975104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altLang="ko-KR" sz="8900" dirty="0"/>
              <a:t>What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25602" name="AutoShape 2" descr="data:image/jpeg;base64,/9j/4AAQSkZJRgABAQAAAQABAAD/2wCEAAkGBhISEBUUEhQVFBUUFBQUFBQVFBQUFBQUFRQVFBUUFRUXHCYeFxkjGRQUHy8gJCcpLCwsFR4xNTAqNSYrLCkBCQoKDgwOGA8PFywcHSAtNTA1KSwpLCk1MCkvLCkxLDUqKSkpKSwpLTU1MDUsKSwpKiwpLCk1KSwpKSksKSwpLP/AABEIALsBDgMBIgACEQEDEQH/xAAcAAACAQUBAAAAAAAAAAAAAAABAgADBAUGBwj/xABMEAACAQIDBQMFCQ0GBwEAAAABAgADEQQSIQUGMUFRBxNhIjJxgZEjQlJzk6Gxs9EUFyQlM3SCssHS0+HwNWJyksLxCENjZIOioxX/xAAaAQEAAgMBAAAAAAAAAAAAAAAAAQQCBQYD/8QALxEBAAICAAMFBgYDAAAAAAAAAAECAxEEEiEFEzFRgRQyM0FTcSJhcpHB0TRCUv/aAAwDAQACEQMRAD8A5K51ixXOpgzTJA3kJiAyEwbOTFJMBaC8JND3d4BHtApmlB3RleCEbUe6MPdGVryQbUu6MbujHvCTBsgpyZI8l4NgFMBEJaKTAa0mUwXkvCAIMBBhaC8BDeQGEwWhIkmC8u6WzyaTVOQ4e21/2e2W9fDshswINlNj0ZQ6n1qwPrgXGBrIGHeUw68D5TqbdQVPGbLtjcm9LvsFesgAZ1R0rFL8vJAe/HQqeHHlNc2ZgDUvY8LXHMhja4Hh18LcSJtOxqf3JUDAmylQ7A2DHTPTJHAFWTTkbHiIS0kmLczPbzV6VUiqmjmxqW4VAbZalraPqA3U68bzXyYQcEw3iCEXg2cyC8S+sYGDYvximGpFvABjRYIDwqIBCDAcQ5pSLwXhCqWilomaS8CpmgzSnmkzQKweQv0lAQwnSqHkLSlDAfNJeUzDkPQ+wwg6mQmLlPj7Iwosfen2GEhmgvD3R6e37JcUsATx0/rrAtg8cODMjT2ai2LFT4BiSfZoPbDRwqsHXUNlJU6Zbr5Vjp4W9cGkp1Mz5TmNMIbgckC2zW8ND42nXd6dyMHjsHRxKV6VKolGmGcsoSoFQDJUtqGFrAgEjhY6TT+yXYr1q2KKoGNPDZMr+aWdgMh9IQiXOwNrY/Z9UMcG9Wko0RlDNTObu/IrBSQwN1IHrHOSlrm11OEU0jSqUmOuSqpVlJA90pP6OK8GB4AiYKntCqaTUQSQ7CoeZOUfyB/RHSehd8tpYKrsoVcfSqJTqZQq5Qa1Oo18uXhZhYnpprOLvgNm2busRihUH5MVaNJVJ6MVqXHP7OUDVC0WXuPwL06rI6kOLZltqMyhgCPQRLd6DAXIIHWxt7bSGKmDCTJaS0CAx0bwv7R9ESFYFWpxlOVKnExISAMkEIW/svAN4LwSQDeAmSQiAAYbwSQJeSErBaEoI5AigSpl0gBVEloBIRCJNTXUf1w1mZo7TV0A7pAygAsAbt4mxHjMIp1lfAGzjx0ghlqrX/kW+2W9WkvQn1k/SYXe5Kg2YfZeW1PGEGzi3j9ok7SuaRHIW9VoO98OdhKVfE5eXoPKBSSPKK5SD4HwkI2qs2mnGULnKC3Hh9kpo6qdWJ5DiY1bFqRYXMG3YOx3alI4jEFfI7xMPnU8BVVWViDzB0bl55FtLnp+KqUKF6lTu6eYjNUYogvwuznS/AdTpOLdlyilSTEkBqb4hqGIbnSb3JqDN0Rrst+FyJ1TePHtky1MJTxGGe1y2IpIdNQe7qgLa4GuflygZbGVKFRLN3dVTra6MLcC2p4AGYPaO7mAwxfF1lGWneoVZUyBrWzABQWcjQZieM1DZOA2bTxaVF2djA4Ym/udaihPP3OqVsLnhwtwmM7W95Pd1oi9UeSe5bMVNySoZVIJJsul/pkpX27SYfbNH3VVpY6mrFatr97QLkrmHvgpOUjiLC2jWmtbT2UaVR6dQANTJVtBb0g9LWIPQzom5nZ02HFKvVqslcP3rUkWmKNPMmR6KqBpdDlJB4gG2gJtu1zdipUotiaCgsqEVxexNJRfOOpUAgjiQR0kDgmJcF2IFgWYjwBJtKRhqcfXEvCBtGQRLxlhBqnGUzKtTnKcMiyGECQwBBGhAgLJDaQiAt5IbSQjYXhvJaSwg2glURAJUAhKmIsqWi2gAGFSeXGAxk0PGGK7d865uDDoJSxFe4AI8rmfCTIy+UvA8/T1luTCULHx9EW8JktCAJjRYwgdW7Id0qtQl2ObBYrD1qddQRrVSoEWmw4hxfvFYcifETbau+OFwl8DtRWZqXmVHpd4lemb5KlhwNtCLWuDMd2B40tg8TRzWNOsHHA5RVp2uP0qRM0DtCq4mptNsNVxBxJpVFpUmZUX8oEOUhFHvmsRrqIS6LtLfnZ9Gk42VTWpXZGNqVIrTphVJNSobAaAHrwnM9x8fSba1Gvi6qqqu1Znq3sXRSyX6HMFPqm8YwV9l7JxC4nD4RGxCGhTahdKpaojKS4YeVZSTpa048W1hLre9HaxUq1XXDvUCZCtAUvIZqrEZTWY3uLC+UZeNvEdZ2rgjVwdSm2peg6m4AuWQjgNBr0nn/s22jhKb1Ti9Qie5C17ZmAqsBzbJfXja89E4DHU61JalJlem4BVlNwR6YHkNh/OJeZre3Y5wuNxFA/8uqwHijeWh9aMswpEIkI6xDGWEHq8ZTKypUGsS0MgtBaMBNg3X3JxGON6dkpg2aq/mg8cqgas2vDh1InnkyUx15rzqExWbdIa9aECdYXsWo5dcTVzdQiBf8vH55p29O4OIwQzm1Wje3eqCMpPAVF976bkeMq4u0OHy25a26/s9bYb1jcw1grIywyS88SWhy/PwHM+ibduPuE+ObO5NOgpsXHnVCOKU76ac25eJ4dd2Vu7hMGh7qmlMAEtUOr2AuS1RtbW142mr4rtLHgtyRHNbyj+1jHgteN+EPP42NXOoo1iOopVLfqy2q0GU2YFT0YFT7DrO3bG3xxGOxLLhaaDDU2AetVz5m8EVSLMRqAb2GptwO043AU6y5aqLUU+9dQw9hlXJ2tbFaK5MfpE9Y+70jhotG6y8zgSoBpN97QOzpcMhxGFB7oflaZJbu7mwdSdclyAQbkaHhw0LlNvgz0z056eCtek0nUqdpLQyT3YEtGenY+oH2i8UmZCo+WkCOJCj5v94FnWqZjoLDpyv1lPLDBCAMlpLSQgIYDDA2zs830OzatepbN3mHdVU+aaylWpXtyvmv4MZc9oO79CgmFrUq1Su2MSpXes7A5ie7voBoc7VL9OHKaUZdYl6oVKblsqqXpqTdQKtiWTlZsovbmvUGEt67Ud8Puujs9AeGFSvV1/5tQBLHxHduf/ACTnkJMEBqVQqQwNiNQehGt5603ZxBqYOg5XIzUkLJa2V7WcEciGBnkyhUAZSyhwCCUJIDAG5UkagHhcdZ642Hj6VbDUqtD8k9NWS2tltwPiNQb8wYGldsW6VGvgqmKCgV8OobOLAvTzKrK/wgAbjpbxM8/VqRUkEWI0Inau1/tFpGg2Dw1RajVDlruhzKiAg92GGhZiLG17AEcTpxV3gUzCogJjLCDvxiXlSoNYloZKuEw5qOiLxdlQel2Cj5zPSGzdm06FJaVIZUQZVH0k9STck9SZ5ywGJ7urTqDU03R7dcjBrfNPSeHrq6h0IZWAZSNQVYXBHqM5vtubfgj5df3XuF11ORKWJw61EZHAZWBVlPBlIsQZWisba8PE8B4nwnORuJ6LjzhtzZn3Pia1G9+6qMgPMqDdT6SpEo7PwLVq1OkvnVHWmPAswW/qvf1S83k2gMRi69ZfNqVWZf8ADeyH/KBMj2d0gdp4a/JnPrWlUI+cTvrXtTBz28YjfrpqIiJvqPN3DZuz0oUkpUxZKahV9A5nxOpPiTMRv/WK7MxJHE0wvqd0Q/MxmwASw3g2Z904WtRvbvKbKDyDWupPoYCcRiyay1tbzjf7ttaPwzEMN2aYUJsyiR7/ALx2PUmow19SqP0RNoInPOzTeZaSHA4n3KrSdgmc5QbsWanc6BgxNuoItwnQzPXjqWrntNvnO/RjimJrC12nhVqUaiOLq9N1b0FSD9M82KdB6J27tE3sp4bDPSVga9VCgUHWmrCzO3wdCbDiSRyBnFAuk3/Y2O1cdrT4TPRT4q0TaIhTMF4wWDLN4qFMerUuAOg+e0UrFKwJIYQILQFkhIgtAkMFowECXhesSFBJIUWUH3oJLEDoLkn0kxTBCJM1tLdNfTc/stFhtDaAsuV2jVFPuxUcU7k5A7ZLnicl7fNLfLJaEGDQXkAktABEdItoyiA9QamJllSodYphkCzdNy+0Spg1FKoDUo3JABs9O/HIToRfXKbak2IvNQw+GeobU0Zz0RWY+xQZsOzOzrH1j+R7ofCrHJ/66t80qcT3FqcuaY09MfPE7q6Wvajs8rmz1Afgmk+b0aeT881fbe+eJ2mThcDScI2lRiRmZf77Xy0k9dzwvyN/sXsgprZsVVNT/p07onrbzj6ss3vAbMpUEyUaa0142UW16nmT4nWc3bJwnD25sMTe35+Ef2vRXJf3ujiWK3DxFPG0sIXpGpWQurAvkAAqaHyb39zPLmJte7PZhi8Ni6NdqlErTe7BTUuVIKm10tezGY3tdrFcfSKkgjDrYgkEe61eYmF3R2jVOPwwNSoQa9MEF2IIzcCCdZt5nPn4eLxaIia9Y191eOSl9a+bvUkCmGce2TVt7NwKGNOe5pVrAd4oBDAcBUQ+dppfQ+PKauvZttNBlp4wBOAAqYlBb/CAQPROoEzhG+20qo2jigKjgCqQAHYAeSvAA6Te9nXz5d4q2jUR842qZ4pX8UwO9G4mIwVIVaz02DOE8guWzFWa5zKPgma0FNpVrY2o9gzuw42ZmYX62J8ZFtOmxVvWusk7n7aULTEz0UbRbRiYuaerELRSISZCYEAkMAMOaApi2jEwEwBaNFJhvAl5Cf69n2SXldsQndBO7AcMSal9WUjzSP58uHEkLcQwSXgG8hi3kvAcSQspAFxx1HiOEF4QlowEBMucG6AHOL66aA2t/vBpTfjMhsHbj4SuK1NUZgrLZwStmGugIN/XMe41ikTG1YtE1nwllE6nbpGzu2GqGHfUaZS4zd2XRgOZAYkH0aemdTpsCARqCAQRzBFwfZPM6ieh916l8FhieJw9D6pZzHa3C48UVtSNbX+GyTbcSykBjQTQrjjnbAPw6n+bp9bVmA3L12jhfj6f0zPdsB/D0/N0+sqzB7jj8Y4X45f2zs+H/wAKP0tXf4vq7+sN4FhtOM02oGefd+D+MsX8e30CegWnnzfU/jHF/H1Ppm/7E+Lb7fypcX7sMLHDaRBGAnUNeW0Fo14sAWgJmR//ABqjUkqIC2YMSByAaw+iY4wJBaEQ2gIYBCTBAEaLGgSRj4SSAwFEYySXgLIFjSAwM9SwXe4ZbjKQPJPPTn6DMNXwrIbH+R9Eyuzlrin5IJVhddQba9CdOEvMVge8p2Oh4g9G+yBry0WNrKft5zK03phfNHSxW59enGXWyd7cXRw/cUFUDOSandhn1KqEzMCAtyPW8xDbUqMSxa5JuT1gJUOsXNGeLAKtPQ26g/AcL+b0PqlnnlZ6K3aW2Cww/wC3ofVJOf7b9yn3XOE8ZZKC0JkM5j5ti4z2vH8YL+b0/wBerMNuL/aWF+OH6rTL9rn9oD83pfrVZidwh+MsL8b/AKHnZ4f8GP0/w1V/jervgkhEM41tCmeed8X/ABhivzir+uZ6FaeeN7W/D8V+c1vrGm+7E+Jf7KnF+7DFK8YVIghM6hrhLxM0MWBum73ahXwdFKVGjh7KLMzIzPU1J8ps3jaa1t/a33TiHrd2lI1CCUpjKmbKAWAPAki58TLJarDgxHoJH0RDAYa8B+2dk7P+xlSgr7RUksLphrlQo61rEEt/c5c9dByPZe0DQr0qy8aVRKgta90YNpcEX05gz1BsLemjXwYxQf3FUdnqNZcvd3z5196wsT06cRAuE3ZwaUmprh6C02UqyilTUFSCCDYa8ZwftR7PF2dUSpQLNh6twoY3am41yFvfAjUHjoQep9FUiGUN1AYX5XFx69Zjt5t3KWOwz4etcK+UhltmRlOZWW+lwR7CRA8lEQzsmJ/4e9fc8Zpf39C5t6VcAn1CaTvd2ZYzAXZlFWiNe+pBiqj/AKi8afr08ZOhqBgJjlYDICXhhtDlgKTBGtFgbVsLFlqWtvJ8kWvyHOVMTi1Tief9cJqtKqVN1JB6iF6zHixN/GAr8T6YyGIBHAgVX4xYXbWBfAX9EA8jPSWxEthqA6UaI9lNZwndzdHEYyoFSmypfy6rKQirzsT5x6AfNxnoGmgUADgAAB0A0A9k5ntvLW3JSJ6xtf4Ws9ZPFtDeAmc6uuL9rv8AaI+IpfrVJiuz/wDtPC/GH6t5tPa/sGqatPEohZO7FOoVBJQqzFS1uAIe1/7vomO7Ktg1HxgrlCKdEP5RBAaoylAq9SAxJ6WHWdfizUjgN7/116+DXWrPfersgMhkEk5JsStwnnbewEY/FD/uK31jfsnoozlXaTuLWau2Kw6GoKljVpoLurgAFwvFgQBe2oN+s3PZGamPLMWnW4VeJrM16OaiGPUosp8tWW3wlK/SJ0rZfZElTCqz1nWtURXFgppoWAYKQRdtCLm452nSZ+KxYIibz4qFMdrzqHMbQZZ0rdrspStQ7zEVXVmLhVp5bLkdkuxYHNcqTYW0lPd/sqFR64r1WtRqmivdgAuQqPnJYGwyuuluuvXxntHh45vxe7+TOMN+nTxc3tDOi4HspBx1Wi9Vu5pJTcMoAqOKuYKpvcCxpvc25Drpg9/NzhgKiZHL06oYrmsHUplzKSLA+cLGw59JnTjcN7xjrbrMb/lFsVqxuYasBNiwG970tn1MEqjJVq95VYs12W1O1NQLZVJpi5ub35c9eDyEy48npbsn28cVsymW86izUG1JsEt3ep1PubJqek3K04j/AMP21GFbE0L+S1NKwH95GFMn1h1/yiduvAFpyPFdrGJweNq4bH0FZBVYBlGVhQYnIVXzai5bHx1HGdN2rtbu8LUr017/ALumzhUZfLyXuFbhyPsmmbTwWC3hwHeUjatTBCMbCpRqEX7up1Rj6uY1gcq7QsFs7vBX2fXQrVbysOFZTSNrlluNEJ97yJ004acZWxVF6bsjqVZGKsp4qykgg+sGUS0CQSZ5M0AGCG8maBIQJA0ObwgSOo0iXjq3hAZzqZkt3N46uCrd7SyFijJ5YJFmKk6AjXyRzmLqcTEvMb0i8TW0biUxOp3DfvvwY34ND/I/8ST78GN+DQ+Tf+JNCBhlT2Dhvpw9O+v5t9PbBjfg0Pk3/fgPbBjfg0Pk3/fmiSCPYOG+nB32T/pvf34Mb8Gh8m/8SD78GN+DQ+Tf+JNFkj2Dhvpwd9fzb399/G/BofJv/EgPa/jfg0Pk3/fmimCPYOG+nB39/NvZ7X8b8Gh8m/78B7Xcb8Gh8m/8SaMZBrHsHDfTg76/m2bePf3EY2iKVYU8ocP5CsDcBgNSx08o8pc7P7S8ZRwy0VKHKuVKjKTURRoANcpsLWJB5dJqAjgaT09kw8sU5I1HX1Y95be9tn2B2h4rC0jSXI63JXvFZihYktYhhcEkmxvqT1i7C7QMVhnqtdanfOajioCQXOhcZSMpsALcNBppNZtJE8Lhne6R18TvbRrr4Njwm/8AiqeLqYnMrNVAV0IPdlV8wBQbjLy15njcy22zvfWxOJp16uU90VKUwCEADBiLXJ1sLkn9lsHJaZV4fFW3NFY3rXojvLa1tcY7Gd6ynKq5UVNL6hBYE+NrD1Dncm2ywgf0YGntEajUMJnbp3YGn4dXbphrX6Xqof8ATOhbA3kOM2TjaxN/Kx6jwQKzUwP0GWc17ItpJQTaNVmAZMKCoLAZrd7oAfO8rJ7RM52T7cw9PY2Mp1qyIVasSrMA2V8OigqvE3YEaX1kkL/sJ3m7yg+Dc3NC1Sl8U7eWv6Ln/wCnhNB2ftqrsfa9UC+RKz06tMHR6OclbDhcKVZT18CZhN096q2z8QK9IKWyFGVwSrK1rg2IPEA3HSW+8O3amMxFTEVcueowJCiygBQqgDoFUDW/CBs3avtLBYnFpXwb5zUpDvrIyDOpspOYC7FbA/4R1mkZYC0kG0MkkAg2W0IkMkGzgSWgEkCXlSnKcKmAakpiVKnH1/tiQkRDEWMsBiZIBJCEktCITCCySQiBAJMsgjcoSFoymFhAYEvIRJAYQFpIDCIBRbmB1sZDAYAvx9EAMkECWjGLCYAhEhggGQiQxrQEtBaNA0AiSS2pkgS0IEEdYH//2Q==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2780928"/>
            <a:ext cx="28860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www.magnetreps.com/wp/wp-content/uploads/2008/01/1778_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032" y="908720"/>
            <a:ext cx="4860032" cy="3024336"/>
          </a:xfrm>
          <a:prstGeom prst="rect">
            <a:avLst/>
          </a:prstGeom>
          <a:noFill/>
        </p:spPr>
      </p:pic>
      <p:sp>
        <p:nvSpPr>
          <p:cNvPr id="2" name="Rounded Rectangular Callout 1"/>
          <p:cNvSpPr/>
          <p:nvPr/>
        </p:nvSpPr>
        <p:spPr>
          <a:xfrm>
            <a:off x="3491880" y="5345832"/>
            <a:ext cx="5256584" cy="1107504"/>
          </a:xfrm>
          <a:prstGeom prst="wedgeRoundRectCallout">
            <a:avLst>
              <a:gd name="adj1" fmla="val 29373"/>
              <a:gd name="adj2" fmla="val -27173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could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be an animal, what animal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be?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72622" y="1326343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0" name="Picture 4" descr="http://asteroidapophis.com/wp-content/uploads/2011/06/asteroid-2011-M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32656"/>
            <a:ext cx="5436096" cy="4077072"/>
          </a:xfrm>
          <a:prstGeom prst="rect">
            <a:avLst/>
          </a:prstGeom>
          <a:noFill/>
        </p:spPr>
      </p:pic>
      <p:sp>
        <p:nvSpPr>
          <p:cNvPr id="2" name="Rounded Rectangular Callout 1"/>
          <p:cNvSpPr/>
          <p:nvPr/>
        </p:nvSpPr>
        <p:spPr>
          <a:xfrm>
            <a:off x="3779912" y="4941168"/>
            <a:ext cx="5112568" cy="864096"/>
          </a:xfrm>
          <a:prstGeom prst="wedgeRoundRectCallout">
            <a:avLst>
              <a:gd name="adj1" fmla="val 27651"/>
              <a:gd name="adj2" fmla="val -27797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only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 had 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24 hours to live, what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do?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4581" name="Picture 5" descr="C:\Documents and Settings\manager\Local Settings\Temporary Internet Files\Content.IE5\B8VJ0379\MM900178101[1]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0"/>
            <a:ext cx="847725" cy="1171575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264" y="1470359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ular Callout 1"/>
          <p:cNvSpPr/>
          <p:nvPr/>
        </p:nvSpPr>
        <p:spPr>
          <a:xfrm>
            <a:off x="2915816" y="836712"/>
            <a:ext cx="5544616" cy="936104"/>
          </a:xfrm>
          <a:prstGeom prst="wedgeRoundRectCallout">
            <a:avLst>
              <a:gd name="adj1" fmla="val 43328"/>
              <a:gd name="adj2" fmla="val 171171"/>
              <a:gd name="adj3" fmla="val 16667"/>
            </a:avLst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What if your smart-phone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fell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into the toilet, what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 would 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you do?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8304" y="3068960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33380" y="4007385"/>
            <a:ext cx="2998660" cy="2517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://cdn1.sciencefiction.com/wp-content/uploads/2011/11/Marvel-Superheroes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890" y="3501008"/>
            <a:ext cx="3538046" cy="3024336"/>
          </a:xfrm>
          <a:prstGeom prst="rect">
            <a:avLst/>
          </a:prstGeom>
          <a:noFill/>
        </p:spPr>
      </p:pic>
      <p:sp>
        <p:nvSpPr>
          <p:cNvPr id="2" name="Rounded Rectangular Callout 1"/>
          <p:cNvSpPr/>
          <p:nvPr/>
        </p:nvSpPr>
        <p:spPr>
          <a:xfrm>
            <a:off x="3347864" y="1412776"/>
            <a:ext cx="5724128" cy="792088"/>
          </a:xfrm>
          <a:prstGeom prst="wedgeRoundRectCallout">
            <a:avLst>
              <a:gd name="adj1" fmla="val -75798"/>
              <a:gd name="adj2" fmla="val -88974"/>
              <a:gd name="adj3" fmla="val 16667"/>
            </a:avLst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could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be a super hero, which super hero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be?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9461" name="Picture 5" descr="C:\Documents and Settings\manager\Local Settings\Temporary Internet Files\Content.IE5\U5VP3O7F\MM900284075[1]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5373216"/>
            <a:ext cx="2448272" cy="1407756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83990" y="260648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04670" y="764704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ounded Rectangular Callout 1"/>
          <p:cNvSpPr/>
          <p:nvPr/>
        </p:nvSpPr>
        <p:spPr>
          <a:xfrm>
            <a:off x="323528" y="980728"/>
            <a:ext cx="5400600" cy="936104"/>
          </a:xfrm>
          <a:prstGeom prst="wedgeRoundRectCallout">
            <a:avLst>
              <a:gd name="adj1" fmla="val 90431"/>
              <a:gd name="adj2" fmla="val -14886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were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invisible for a day what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do and why?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2996952"/>
            <a:ext cx="252028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6" name="Picture 8" descr="http://images.wikia.com/doblaje/es/images/0/0c/Pinky_y_Cereb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9" y="3248980"/>
            <a:ext cx="4464496" cy="3348372"/>
          </a:xfrm>
          <a:prstGeom prst="rect">
            <a:avLst/>
          </a:prstGeom>
          <a:noFill/>
        </p:spPr>
      </p:pic>
      <p:sp>
        <p:nvSpPr>
          <p:cNvPr id="2" name="Rounded Rectangular Callout 1"/>
          <p:cNvSpPr/>
          <p:nvPr/>
        </p:nvSpPr>
        <p:spPr>
          <a:xfrm>
            <a:off x="3059832" y="332656"/>
            <a:ext cx="5760640" cy="1152128"/>
          </a:xfrm>
          <a:prstGeom prst="wedgeRoundRectCallout">
            <a:avLst>
              <a:gd name="adj1" fmla="val -80628"/>
              <a:gd name="adj2" fmla="val 32246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had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to commit a crime, what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 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you do?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548680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videogametalk.com/images/uploads/screenshots/2159_fullsiz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360041"/>
            <a:ext cx="4187934" cy="3140967"/>
          </a:xfrm>
          <a:prstGeom prst="rect">
            <a:avLst/>
          </a:prstGeom>
          <a:noFill/>
        </p:spPr>
      </p:pic>
      <p:sp>
        <p:nvSpPr>
          <p:cNvPr id="2" name="Rounded Rectangular Callout 1"/>
          <p:cNvSpPr/>
          <p:nvPr/>
        </p:nvSpPr>
        <p:spPr>
          <a:xfrm>
            <a:off x="251520" y="5229200"/>
            <a:ext cx="6912768" cy="1224136"/>
          </a:xfrm>
          <a:prstGeom prst="wedgeRoundRectCallout">
            <a:avLst>
              <a:gd name="adj1" fmla="val -29491"/>
              <a:gd name="adj2" fmla="val -183518"/>
              <a:gd name="adj3" fmla="val 16667"/>
            </a:avLst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there was 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a time machine and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could 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travel back in time, where and when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go and why?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4" name="Picture 6" descr="https://encrypted-tbn2.google.com/images?q=tbn:ANd9GcTdBzUxx3fsF-PLB1NGIuvRbWzZnUQI7Wz0VyCVKXnlyqrNCWdn9w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44816" y="332656"/>
            <a:ext cx="1907704" cy="3168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560" y="2118431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ular Callout 1"/>
          <p:cNvSpPr/>
          <p:nvPr/>
        </p:nvSpPr>
        <p:spPr>
          <a:xfrm>
            <a:off x="3347864" y="4365104"/>
            <a:ext cx="5328592" cy="1440160"/>
          </a:xfrm>
          <a:prstGeom prst="wedgeRoundRectCallout">
            <a:avLst>
              <a:gd name="adj1" fmla="val 5863"/>
              <a:gd name="adj2" fmla="val -181129"/>
              <a:gd name="adj3" fmla="val 16667"/>
            </a:avLst>
          </a:prstGeom>
          <a:solidFill>
            <a:schemeClr val="tx1">
              <a:lumMod val="8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could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be another man or woman for a day, who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you  choose?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809" y="1340768"/>
            <a:ext cx="208597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1124744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AutoShape 9" descr="data:image/jpeg;base64,/9j/4AAQSkZJRgABAQAAAQABAAD/2wCEAAkGBhQSERUUExQWFBUWGBcYGBgYFx4XFxkWGBgYGBcYGhUYHCYfHBkjGhcYHy8gIycpLCwsFx8xNTAqNSYrLCkBCQoKDgwOGg8PGiwlHyQsLCwsLCwsLCwsLCksLCwsLCwpLywpLCwsLCwsLCwsLCwsLCksKSwsLCwsLCwpLCwsLP/AABEIAMIBAwMBIgACEQEDEQH/xAAcAAACAgMBAQAAAAAAAAAAAAAFBgMEAAIHAQj/xABIEAACAQIEAwUFBAcFBwMFAAABAhEAAwQSITEFQVEGEyJhcTKBkaGxFELB0QcjUmKS4fAzcoKishUWJDRTwvFDY9Jzg6PD4v/EABoBAAMBAQEBAAAAAAAAAAAAAAECAwAEBQb/xAAxEQACAgEDAwIFAwIHAAAAAAAAAQIRAxIhMSJBUQQTMkJhcfCBkbEz0RQVI1JiocH/2gAMAwEAAhEDEQA/AByWqmW1W6JUoSuYQiFusNupwteEVgkYSpQlYBUoFALK6pW3dVuq1Iq1gEPd1nd1Zy1nd0AFR1gVt9n8qkvJoat27U0UZg44UVo2Eov9lqS9w4gA9ZrWAAPhjUD4fyo6cLUZw1GzC+bFeGzRxsJUFzA+VazAUWBNW7NmpzhIq1Ywoo6kYjtWqspbqzbw46VaSyOlDWgFJbVe9z5URCVhWhrBQMbDnpUD4Y0VdaguCtrYaBT4WoWwtXcdfCKW6ecfOgtzjR5BB/iY/RKOoNFk4WtDhhVJuMHqv8LH6xUTcVb9r4IPxY1tQaCAwwrPs46VTXGsRudiZgD6CiaDSinYKIO4HSsqzlrKICyi1KFrRRW7PAJPIT8KUc9itTS1jO2azCo2XqSBPwmtMP2tX9kx5NJ+BArU/AaGjlUqjSqWFxi3EDqZB93qKuWdqBmYordRWKKkVawpgFexWwFe5aBiJ7cijHAMErnxCfBO53zKPoaGEUW7NXwDr+wR81P4UAPgI/ZwLgWBBUacvb/nV/F8ITKm5GhidPEdQee8VTbEDvU9w/zLV7DcZs3gVt3AxtlVcayrZhoZHVW+BpAFS9wMMfD4T6aH+elDl4OCrGfEGA8vZZvwFNNthofIf186GYVx+sH74+jj8axrA9jgLNvC9OfTpsNRVe/wZpPhIjedBpvrTZYUT8fqtZi0EXB/XiQVrZkc5x+GymDuDW1m3VjtBbBvT5D5gVllaLYxvbWp1FaqtSAUtgMrU1sa1NExG9QXKnYVE60xgRxeyzWyECluQacvypYfD4n9iyvun6mnZ0qBrI6CmQUJ32PEn79tfRB+Ve/7OxHO/wDAAfhTb3Q6V5lHlR/QNi3h+D3TGa8xHPzHQ9aOraipiwHMfGvC6/tD4imFsiy1lbG8n7S/EVlagWS1HiPYb0P0oVc44yiSo+JqI9oidMm/nR0MoDLNhelYcJroKo2uNJvluctNPwq7hOKpcMBWBmNTU/bmPqQzDBIEJGgAJ8JjYTyMVF2euMS2ZidBEkwNddKFYki2dQdRyb3eVWeA8QBuhQp8QjU7c/w+dO4tu6FGhVqQLQrE8XKXCoUGI1nqAelV73aYoJKA+jfyoaWxRgivYpcs9rSxgW/838q1/wB8f/b+f8q2iRhkNF+zdoH+FvkQKRX7XRE29xPtfyq5wz9IHcie5zbj249qD0/drOEgPg6C2HBvII5n5MtQdn8IAuJgD/m7m3+A/hSvw/8ASN3t+2BYgswX29BnYCfZ5U48ESPtg6YptPVVNRlFrkULpglIEjkP+2gWHw4z3I5ER/EopotjT3H6D8qWsO361/Q/Iuf+2jVIBZsWDyJ5/hWq8L7qERnylJ8TFjJZifE2sa6DkIFX7Q299bYseG03SAfQgflUmzHPuMA94J6D5afhW1iveO/2p8iR8z+dZhdaq+Byyoqh2g4qcPZ7xUzmYiSORPIHp0q8by9Rp50F7bqDhNs3jECCZIViNAQTttNCPO5krdC8v6QbpaDbVIBmWJIjfNoI/rrXi9s77We8CwYc8isIRJ3BjWPUH1pWCQxJYox+7lCyeQgHmQPrXl3EzbyyoABiAAxnUyRrBgjXXXpFW6eyG9trkOYbt1iblxUm2uZgJIMCTEnWp+P9psTh7gUOrArm1SGGpBBGYiZB2JHmaS69e4SZJJPUmT8TVaRMYl7W4wiZVQQxnJAOVSxg8zArV+P4s73lGqg6AAZlL6mOQEHzIpeu3maMxJgACTMAbAdKjijRqCb9pcQf/VPwH5VC3G7x/wDUb5flVGsiiEtHi17/AKjfGtDxK5+23xqvFeRWMOXCb+Gayhu3AHjxTcYGQSNprKTJrKINI94q34PeKp2k8Q9RV7EP4Dp0+oqlbvARvv0H50SjAFjDMBoDG1EOGuFuKNRsNevuq63CigYhzueW0nkZqlh8CFcGWMEHcCSDz0oRvuT0uy3iuLi79yMo5uNeukDpyqfs7iZvLoBr59PMmocbwJEVWDMZnmPXp51vwW2FuLA+8NZ/ClSfc65vHXSt/wBQzxI/rz5qv41SxJVtGJA6hc3uAka++rfFT+uHmg+rUMx3NumUT6zRic7JcPkDALnPI5gPkAT8zWg4e8klGA6kRVfBk5h61O2PuSQHI15AD6Ci77GSNr+GLEZVLacgTzPStnwhCw3g1HtaVFexLjLDsJBmDHPyr2/mC6sSSFO8861hou8GtBb1o5gSLiac/bWuwcOYd7jgNP1y/HIJPxmuK8KJ71NSfGvP94V13s5jhdv8Qyg5e8Ug9SFZG05aqTXNn5QrQ22dvj+P5Upq8X3H/wBT6Mfxprw50Hqf+6lPF/8ANn+6x/ytU3wKGrFzb3/jV17Oazl55RHrGlJOIuk4zAEOVB70QNiQgeI55vZ+FG+LcYuWmwr22RrLXLdi6JBylyqggg6GSZ6QNNTEJ9hlEUeMXc10nz/AVvhFkHWNDr0031qpiFc2rV5xDXA2YbQyuyTH7wTN/iq3w4/17qu+DdiMWSv3nJgMA2UKSF1GillDNqQJ2JGkg0O1Y/4NFaDN5PaOb7rEjUCQCenIUTZmDQgQewYIOkTnBKyFgZMu4kN6gdxzCsyIVYXGUu8NqGCywGnMAEafGatHZpitalRz1sIfG3dFSQ4UKwCgAEOSoBOm+4Hw1FYm2AqkGRAkxAkyYn89dNqeMX2ZXEut3DraClR4SSIu6lswCmd033g9dVlOApkR2OcMCOgV1d1YT972QZ89tKtKUd3XIIQltFsDTXlSXcIRcZLYkA/AflWjoVMMIIoDuLR5RTsvg0u4lEdQykPIO2iMRt5xVXBWwwcEScsjnt/Qq/2P/wCbSDHhuf6GpZSpNga2Gu92ew6kRYTZp3jlG5/qa1t8DsaxYt6dRPLcb0SOYGc33T92Y1EaDnXgRiWIfePujoKhFuUtS4JN0q7gteAWGD/q1EM0Qo9I220+dRjgoL+G1h8mbmnijNry9aKWbD6w/wB5vuj9o1HbRgg8ewn2Pf1q0cqbpCtPycyu+0Y2k/WspvPYm3/1H+C/lWU+pFdaLd1JRvShoGtWMOp17wZ+njYQNeURt51HdxNv7qR8fxanKls3cysDuPmJGtULepq2LZILAkSu2m0bbeVVEuRy+JrA3osX7pyFTyckejSSPj9azhw8QPmPrVnE4Qd0H5kifny91UrDGR+Qov6AV9wxxo/rU/un5H+dDsQJDDWCFO06qWj61b4pfVriBWUmCCAwJGoiQDpQzi2KyWiwEnSPf+FJHgLRvhkg1q5GY8teZH50sYbjTq8tBHMQB8D5UQZ7qKGFvwaATJYgxExsT+NG6GphjEuDl16/1tVfE3z3b5dW8IHkJjn03qQnMiEAjfQ7jaQR1maLcK4SjqW3nLI6EHX4iPhQZkAOFXrttv1hzCJBB1BEHeiXB+KOMRa/WXINxHfVjmIfNsWCknq3UnaiQ7PratXHvNqFeDrAAB8R6k7+WnOkgYwNchAQpbKM2pgnSQOflRhv8QJpfKdW4t+l/EJee3ZwyG0hhs7RcYkScpVio9rT2uXWAoszMol00AmSAPZG07a9dd6nbgMNbW2wIYw0aQIBJ3JiC25OoAqr2pwHcMmU5lYMAT7WjZiDy3YGRHSoqNfYOlVtyF8a73MPh7dvNmtd4WKaEKykELGssCdqWsHw8pJVWCsyLEGMwJJIHWBS5iLtwXO8LMGmQ4Os8iG9IrovE+0I+z2meVuOqMVgySVBcDpBI0Pw6nTXcybSoqcK4r3WHcNHh7phrsApRhoDrmJNW8H29RRHdufeBQThXELCD+ydrgmf1ZdRMx4JjY6ZhVD7ehP6yyUUTraUhifPvNI9IotJi6R5Hau1cyhIDNoqkgANIK5hIGjAe6etQpiGsMBdvWMqsSsMqnxBhquYEr4hoNutKnDOK2ywt21cA5iS7DzOyiiBv20JLFUEbnSa2mjLZUWrnF1wpa6jq4aR3aMDLE+GIJgb6mYkgVQw/aY3bgsYiyLS3DClZlGbRTHqdx1q9ewneICtssqtmLKFgQp3Y76GYE7DSoMNge/vWwFkqweegWCPdmgeZI5a0t06KpalqJ8V2dVEATW7BiBOaJaPI9PXnVvsxg8vePcSLkrqV8cGdJieQohj73d5WbcHYjllZT9ZnyoXxbijtZAtMVzkSy+0FgyAeRkASOUxT7XYttqiLtJwqxaPeKmR2000Vp1Ph2B05R6GZoHwPCPYvC6oS4AGABuBDqI5g1JwG1eXEra7y49t1cuCZAhTDgNIBmIPOpcXgTbcodco3jcHUHQVmlK74EkmukL3ON3CZNg7RpeTr5gVovHmE/8ADvr0uWzyA/a8qCZV8q97keVaMIpUibh5DVrtEQNcPe3Y6ZDuxP7fnVbEdp0S3D2rq6RJVYmP71DTa/qahvYdCPHOnU6fOl9uMbYygpOgoe3GH6XP4R/8q8pPuYNAYzk+iyPrWU9I3sobb2PVLZc7DTTcnaBS8nHATqsDrM/KKO2+AXbmFRymZTqQAcwySsx0ImhuK4cjAFAM2WPL1PnRlJJ0VjFtDBgxmQx0+o0odl1o2vZdlQKLgLBQNZAJA8j+FAFZldkZcrLuOY6c6aXSrYq3dBt769wFkZtNOe5/CgnEiy2mKgzttyJ1NS3scVT46gkHT0MUBOOZ58R3/r1pIzUuBpQceShbsMpBAIMyCNwQeVdBwGHS/hACFF2Jkk665tR0ggaDShHB7D3WS2RBYkhiP2QSZHUCTA3pq4n2fW0BdRspXQk6QCApIgQAeY0Amhq8jNJVuL3C+yC3bjswChGIGUmGfQjf7gBk9ZA61sxNtLuZSBaYKzDUaE5cpPtA9OUiYq1f4ibYk3yATshzesxy9ao8c4s1zDd2CHSVgj2omYOoMgkcvfFLWtbm1aXaAl7ijACFAA5k5zrqZg7kyaaOznFQEJafFqIHu126UvcM7PliAdA2k6fIfgddtN4L2eHuhCIhaF2AJJYFphVBJMRsKGSTqocjwxrmfAz4u9bv2nH3XDITsQI19/5UoW8EEQqIJAgkCDMiCBzhvXbpEi7/ABdpaGZD+xlDAaQZkSDoalsYhnbwXSZImFjUzrBnoSYGwo1JpWLcYt0O93ClbQuYdLYLoMw8WdQwk5CWKlgeUDb3UuY3jLXMuaPDOWNIJ3M76iOfKr2FsHDvbd3D+C6WZnJChTbiJjLoxGgEzz0pc4nebEXZtgIlxztOkgSGnnoW0geI7VpRaezBGu6PbuPRiM0mDvAbXTUExzorw8i9c7wsZRCIYQZzSTBPMEa+RoNxrg3cqCpnMNfUa7ek0Y7NYQLYW6Sc7Zl1MbeFYHoZnyoSrTaHVqdMr8Z4ibFwtbOtxQPQA6EjnuRvQXC8RuO8M05yFk8i2k+ETHuPpTTj+zFu4rXWdgfZWPEAQ2uYHWBDAifpBG9neEpbxiG6yuFYwVnLmE5TqAfajlQhGDXG4rfU2iVuyOIwlwPdVcniXMrBhMbHYj4VmE4Wl/O7hj4iF30VdNh5zXScdws4i33ROWYJMTlI1Gkjn+NK1zgzYZsmYsD4xAywduZPNZ/rRsjkg4lFvcrdgmaxiL1hiTaIDKDqMy5QdOXhYA9Y8qYsDg7WCW47uqgsQCxiEBOUf3jufQVR4Fwlla5ehiXgDTTKsnwgakHST1FCMdGIxhS7OVAAq+o1NNfTqYKuTiiHjHGvtd9VtkZfCoBhJGmYywkmZ28tDTJjeC23tsEEE6hjLEsOZk7HYxpQHivZhWzZBBGvM/ExH/iqP+8N6zaU95rp7Rkc53mDKkUimvAzxST5GLAcJXDgs5LXMstHQchOkfCforC+qvcJuFs/i/WaNO2/09K1xPaZ7oi44YGJiCdNRoADuKEpxINcGsIRzjfXWj8W1bAa0bt7hO4UMmYHLXNPu0NSYVgVEMp/8+dL926xPhiQxMwJksYj3VrZutIQmSIK7mGH3QFBnN7MdSPOmUKdoRy1KmOGDS1mi60AjSDHi03kHlNCO2UB0RABbCgjqWO5ZusRpyrpfBeGW7NsBVAYgFiQMxJGoJHTaBpVDjvZnv7meVykCQw5jTSPd8KbehIpWciZ+gHwFeV0wdh7P7M+e3yrKagjRhmCIBEAAADyAgfShfE+HodrasTuD4d+YIEg6z51fc/taAfOoBJ16n+Z90CgD6gzjPEWtZBlBdhMCTAB0gASZPlyoJj79/EkAWllQdAVDx5kmdDy0HUVR4jxS4l57TS+UndyGgkkCQdRBB161rheLtbjILiwdNQ3rGvOanJyZRVX1LGN4NcMqoaQCCIzH4qPppVLg/A3S7leI3Gmjagc9Rr1o/w3tQ99lRRmJ6qwA6mQxEDrTLw3sMrpcupdJvs2Yg6INzkC7ga+0Z2G2tInXSuR1zclsAcOgtG3ceJViSPMsV+h+tbdo+12Ga2UkmQwy5ZMxpPKJIMzyq5fw/d2MTcvJlbDqPCw0YvmABBnUkL5GfSuZIqky5gkSIG/QDlWxpvng2Wr2J/tCkNlJBkRDECDqdNhEEe8UwcE7Ofar/dW2Yqkd5cDyqidgVjMx1gep2BpQvCDA5fWur9lO1Nu3hEUWGnci2JLsTqxEjxaDXmI20FW2XJPd8BnEdjFGlgi3oPCQWBIG+aZB89deVWezfZx0fvboEr7K6HXaSR8qhucec906qwtus6gg5vvJJGXMsgEa89qvcP7Qq27BdYOaFIgDWZg6z/WlLUNX1KXPR9Ch2+7HpisM9wIO/RSytHiMCchPMEaCdiR5zxTAWmZjlbII8RE6KdNhqZmI5zX0WvHLJQ5rtserjqeU+lchu8PtW3ZVURm5bEAyp05RBpcmRQFhic9kBu0GPdltWzMoHzNp4wSkTBIkZdfdRPhXAcRb7gnDv4jrIgBSDLNOg8Kz4thHUUz8J7SWrfg+z7ZZKHLmGm7asSI2222roWAxNq/bVlAZGDDUctVII6zIPoaMZKaNUobtHJ8RhTiBbtoPE7KJ3B0I1+JPu6VWxdjuT9ncXVZv1gzQAczwyqRuBp728hXV+F9nbGGYlAS8RLEHKOg0H5mN6pcb4bhFW6W7prpRvbcPc0BICi4xZADqAsbTWhjpbjZZ6n0nO8OWCsCxK940TvLAsxJjqJ97eVD7Ny2xyh9QPEMo0jfWevlRbApbdyCSfE7bwsAKqgRrJLEyDsv72lwdnbYJNvw5hrMtOw3LaaCj7Ep3KJNZ44+lljgPahu/WwC16YzsT7AECcx3OoBG+o86eDg0eCyqxG0gEjrvXOuHcLWxcK2yFYgFZZTcbUydcpCyI3Oo5c2PD4fELqb2vTVx6HMfoBWpx6WjalLdOg1jcVbtg52C+p1gRsBrA8utcsXGIuL7wkspYqSSNV+6eWmnnpTle4fexV1bRKDQ5mUk5VJEsUO3SJ1JonhP0WYRTL57ohYVyCJG5IAG/Tag9Utuw6cYq+4Cw7eBojKBEzMjkdD6fCkrifA8Rc7+9ZQm2B4ogsFeQDk9ogxuBpXWe1HZgeG5aQBAMrKBAAHstA0gDwnpC1P2O4MbZe8RGZQijqAZJ9OQ99ThFwnRbJJThZxXGY62RBtEOAQ5zBh7LbCNBJ33oVhcM2XOFDRO+w5D11NfQnbDs/axFh1a2M5EBgBnHSGI6wKSeHcDttaUEA5cn3Q05QAse8A6datOWkhjx6zmFzBuGkjLPX3U29h+xDNc7+4YVCMkfefyPQbz/QLca4QjMtxlmLg0ETAaTrtBFHH7Qt3mQWxPLx6ERIIkaAjXnvSe7Grk6Q0sTWyQTxVgi2TbUZgPj5Ejb1oO3a60UAOdTppCnXY+0ddfKgvG7l24SxJCkSq5iY5yNBr86Vr+PA9vMJ19kwfeN6Hu6t4boMcUUupjvc7VLOltyOsqPkNKyklyq6Ozq2hI00kSBv0IrKbVP8AEDTD8Y6cGzC0oJaN4Yzrv1+Qoo7STr+ArnHBu0N+wAoK3kAjKTsOinRh6ajyo9/v5aIOdblpuemYe4iD8qqSYudokzY696ge9UtyKgt8OYBTLKG28XzgGo7d4XLmcjxPcuz11UFddzB5VctKAdGnQkjxeEmNIaB8BSPYaO+wz9grBWzcJMzcYAx91fwLE06cLxfd3AZ0Oh9D+R/GlzgFjJh7QGsrnka63CX+WamXsuUdyWPjTQDbfSRrrB5cpHu8lasnqLj5OylHHuUv0w2nOEs2xE3b4Unl4UdlBPmTP+GuQ3cFctAB136jaSdPLVTX0bx/hNrGWGsXZAYggj2lZdVdSeYP1I50vWv0ekBVuXlZQYY93qVExEkw0+o191evLUuDjiovk4Z9jZ7mWQCTEnQe810jhmCVAqXdYUA7gggRB26bjyoVj+zaHixw1qWT7RbTUycptK96T5S2tdK452HRrISwSr20hGmToIUMT7QJgdddIoTi2tgRlTA9rBplEISOsuPmTBqQcNBEAFfeT/qNKOGv4m1lJuqNdQFYk+REx8Qa8Hbty0MH3jwAamJ+74tgdPKp2muP2oe2ntL97GS/2fYiQ6k9CpUHykMY9aXb3A2RsrkKYBEHOvPZ4GbY8tPOrNrtdZbRmKnox/8AlBo2ONIy2gqpcCgxLhcp3MllA1gGZ+HOE3HjgtGWRPyLrcDxWWLVosDvLqnwzGflTbwfiAwlm2t0922USgXPGktMcpnarVriAI2j0IYfEUJdkOIDXFJtzqdNWjSQTHIaetUWSMV0tEG5SvUghiv0g2QsqjufQAb6HMdRy5UgMXui5eBICmCer3ZBX+DOT5R1o3xfiklgciJPhzeN4jlrrrrsaGcS4yBY7pBkVQlyICll8XjWBrqsHNBlhQ1vIi2NPG05UuO4Os8NZ1zZ7i6wMsEaR90gmdak+yXVPhxC6cmTKesEhh9Kt8IvlrCkKACXgzzzEdPIVXx9z9WsnL3hLHyBlt/QRQw5Hbi1wSbc5Sd7FTGC8CneJavZmyrJJ1gtHjGghTzqxbx2IT9XbRbR02bwhTzyq0VBxTA3Gt2O6RmOYeyP3SPa2G+5otwvgmLt/wBpYeGyksWSRIAAILyYOn0qze1pb/cNU9La/YY+x3FbeBVziHH6wqTdO4jQLA+5qSAOZO86O+A4/Yvki1cS5G5VgwBIkCR5VyvifZYXIL50K6jQx8CI51v2PwN3B3yc6taYa8mzAypjbYkb9Omgxz2phyQ3uKOyqa8kVRs8Q0BOgPy9elTX8QB748+tdBA8vWmbbz89fy0pe4j2WPtWVkR4k5gjmP65eel692rsW8q+IvEkKIjpJJAkjXSi2Cui4quJh1DDrBEx60rqXSPFyh1CpgeyjIGa6As+wu7DqxPnpp0HnQ18IBIYQw+IB0iPQnb3EV0R7IPKg3aLB2zZJbQqZBk7kCEPVW2jap5MMZRoeOVuW5zHtAxDhnIyhBlKzldSAcwMSdCB5bHWoU4FZxSKQ7QN1yqHB6HmPdvUvbXBtctLkg5HLp1XMPGoPQwpjqPOlG3Yvw7kZcgkBhJOhJysp6j51PHGMKUQ5IvuMt39H1pjLXbxPUkE6aDUidq8oVa+1FQQywQD7bjcTtWV07+Dnr/kBQ/TT0/PervC+HoxzuRIIUTqCYJ9kAk8/LSqVMXZPjLWA4AUhsphp5T0I61KTpcnVX0PLGGtKIS2DPMwFnodZk7e17qJW+xl25MWltht9YWP7sSPnRTDcU764ixbstJCuAFgwfvRMnb30xpg7wWDdBP92D/pqUYXumCU9OzVATG4K5YsEkpuqjICAoM66segA051S4UzB0QkKsiTqSVO4gc4J93zZzwLOIu3HeeU5V6xuW/zVH/u5lfMh66N59G/P40vs6d4oMcy4bL1jE2wbZRlm3lJWRng+BpnxEeICTuTzmjOO49YUQbqk9B4ztGoSfLeNqAf7BXWSTPwmI291VOGcItNfurdJK2wDlPhX2gCSBA2iP73lXUtXgl0eSxwu/hrV25ezqz3GLAAF7gz5e9gKuYA5F3/AGdPNys4xHVihmMsyCpGxEhgDqDPwoHfxdnD2z3ahZk6ADQ9SxAjSI8qX8b2izK62mkkOM/MIxBARvQQSOQHuV5UtikcDkrQK7RYdkxFzSAzF16FWMz8Z94NBb4EEkCVBYGNQQpgijXafiNp7eGKuWuJbW3cQAypCrJ1A+9I0nlSxjsYO6cz91h7yIGv+IfEV5zxtZG4+Tu1ReOpeDXh/FTe0ZEZTOpHSNIM9egra4uFDQVNtuqMV/0kfSh/Zr2R5ZvmEqvxS8Q46Ev9E/Ecq9DU9VHn6IqCkF8BiD3zhMUVRe7K95DTI8QJbKdD0POpuJcX0IOIzx/0wF0nWSCx2n7wpSdM0wNBr6V5d4c6gEjoY9RNH24c6UJrl5YdPEjbyh7TWg6ghmRpdSPaBMFgZmdaE4+8CxytIyxPXxD38qOcD7a3LeEu4Nlt3LV0QO9BJtmdSjctywB2YkjcyCxoCOxT2Src5iVIieYEz7hVGkt0KntTGngR/wCBQ+V0/wD5G/KrFzs4MQUzuO7URlG5MRJOkR76qcAVe4UXWCiGKqi5mOZi4Bbb70QP5VHh+DXLl1nVntASWIYoxYxlAAjMY1iPdrXHHDNOTT5ZTEluvI5YXCLbHhEaATzIG0mvOJ4y4to5CRqDoenQHnSvwV773Lq28SYt93GdA+bMsmSMrCCIoq13GKIa3ZvD9xyjfC4I+dNGGWDtbhk8cuT3D9qLy6Fw/Vbqz9Yb50V4dxSzekPFg6alhkMSSMzRlPkeg15Uv3+LqB+vw962OZKZ0/jUkUrYiyb5LkFU3VQdAvI68/P8Irp1xmmpRpk9Lh8MjslntXg5FsYqwSsADvAfdmJg+41cv8QVuRIALeEGI15rM89BqelfO12wRvRrsr2tuYNsupst7aabaglTurQTtoeYNFbC9zpfHri3gl2zDKAVLowI0IIBjYiTv1iinZftMVC2bkDL7D9ROqn97XTrEbxPMMZ2oZb73sMptKAiMkKoZcsB2VBlljJ0205bNXBsG74VDcDJdJJdSNCpZipXWQcuXSpSi1LVEsnFx0s6wL2eY0I3+AOnuINDsYgdSrag7zStwrGtbuoBorFQwLfdE+8kctoI5gxTO2LB+98d/fFVhLUhJx0MSuN8P7n2tbZOjdJ5Hp67UpE9NpMf16RXTeM8XsW1/WuokERGZmHRUGvvOlcux+NtqzFZCZtJ9qCQBIBPOuP1GF/Kdnp8t/F+5tWVo12DBBn0P5VlcWiXg69UfKFUNU+Dt57ip4pY5VymDmMQP/OlVBRLs4B9rsTyefeA0fOK9dHmy4J+HJeJZfCzozJkcQxy8jOk77jlTJwf9IzWnNvE22AWAxAkp01BgiOWnkeVRYTBh8TxCxsWa3dQ9GIkH4us+RNLOAsOuIZVfuyUzaCQYI0I586FRQqlKSp7/nk6Pa/SNac/qreYdTcCn3KA31r212qu3cRaSRYtZ1zbAsBq2e4+ymCIWN96S8DYt4iQ623ZTBZRlP8AEus1j2UtNlW/csno47xD6c/jUmp30yX2KxWNK5Qf3Tv/AKOvPxC2de9t+64v4NQ/7Xhxczi8gaIJVxJGmhiZGg+ArmBxt1bi2wLd8uCVNtspMSSDOgMCYq/hrNwg5bF8P0OQL5+MsKLyZV8poYcL+f8A8HHtHxLDnDsqurMSp+8SYYH2iOnnSjb4qFJAlmOyqMzesDYeZgVXxWFcQLzgBtSiasQHtggudYys2wA03qtjOLGzNu1aFmN5HiPn095LUjxOb1T2KLKsa049/q+CrxviV22YyhCYJMhnAPn7IOnKd6qcWGVLSAmCs6nk2WPkoqti7rXA7MSxAGp15gfSiF/gN66guIpKjIkkqJbUkKS3iiRMbSJ3E1jGGPjY55ynke+5P2dtQsnYqW90KNfhTH2l7BPa4YmMuSrjKO75gXWks55GSoyjadddAZ7Cdk0TE2bd51ZlGZkIInLmy6HQqWWfMLtFdN7R8C+14O9hz7TDwk7Zgc6mfURRUd3IWbpKJ8/dl8Mj5c/hUsc5Bg5QJgb9DuOdedpOIl9RbRQfZAXZfuyeZold4BcwpZQpzeyQRDKeenP3aGl/EYe+zeJXPlBj4D8KKmmZ45Il7F9nWxmKFoIHlX9okKvhMOSCCQpIMDfbnXacV+iLDJaQ4dSt62sB8x8ZjxZwTHi8tuW0UpfovsWsMyO5m67QRuRm0A+Os/yrteeR/X9TW2mmgNODTOD3banQqOYIKiQdiPlFarYthSqjKCCNNN946TRXtngu6xt8AQGYXPXOoJP8Wagi3D614knLFJxi2e7jSnFTrlC7xHhndXXObMLgDAn2gV9oE/DXzoRa7SYm3CpdbQnQnPOu0PPT50x9oG8Vv+7c/wD10vYHh04heYjOfiQB8RXsYcjliUpcnjZ8ajlcYjMMVevKlq8R4vG+VYkLsuh11g+4VHZ4oIylQBIAH7ugH4H/AA0Z4JcRruUxmiQOcbN9RVjiHYtPbV9ZJObT4T60Fl3pjSw7WgO/B7dwMQCcsfkJ6E7xO3zS8bhIulYAiZ6af186fbfDe5OYnbfaB8Nz59ekVFwfsz9uxWe4ctgEB2G55hVGk9SRyj311KrIuDugLh+wuOa2rLhrjI6WnBVcysp1HiXSYbb1rpHA0udyq3kIYADWJ0HkZBrqmD4altQijwqAAOgACgfACg/ajg4K50Hi8uf9aUs3NK4cmgoN1IUMOik6tkj9rT4cvnV1MvJgfeCflQO9iYOn5j8apO5mvO/zGS5R3P0KfEhpv2FYEMoYHcESPgaX8d2Kw9zYNbP7p0/hYEfStW7RXEIUhWAHMQT6kEa6b1T4jxp7pIHhT9kdP3m5/IeVdn+Jg42cXs5Iugfi+y1ouf8Ai2HpaLD+JTBrKB3cBiJMYm6ByAYwB03rK3vR/LG0T/GKk1b4Pdy4iyelxP8AUBVHNWyMRqNwZHrVzWO/E75s8SZhvcw6keo8B+EfKl/HqVxFuNMylfmR+NEeJ8XW/i7F1QQhW4ozCCd32k6SdPWg3E8WWxCMdACpHoT/APzSveQFtH9Qxwyx3TiHLKdAGjTnuOtWe0tgZA8THTfWo2tkCTpG3ryq9xPxYcEcoPzBqMtpJl4PoaE4she0VaSWg7giSI/GmW3iL6Dw3ngwNYbQnqwJHuNJSNBXyI+Rpvw2LVyMrBtRsdd+Y/MVSakt0yUJRk6ki9j+HgJoTMEkzJMjnO8kAe+qNjEo9le8yjKoALeW8fKmW9es2VVrx0JCqIzAnckjaAOtT8R7NWXtkIq2mQnKQoAJI22nKSTttvXN7unn9y8lu9Io8B7PLiXyAkW8rO79LSeJyojUwIExqw3poxl9VFt3TLaRT3NgEjcAjM28KrKWO7M7ftSsvZbg/wBlsX5c5/sziV5AMh8M7nzPyqjxl/tVyyiZsq2lDkrl5nMQuYxIyiJ5UryKTfg6sOF6de6d9v7/AIwlwFrwxT37rOt2SrgMMuh0XKpggDSJIg+8vydvwBraLEbENAJHqCQPj+avZtB7aNbBm2EsvpE5VHdkGTIyg25/9tZ3pvwfAbWRcyKTAkxvpqapi9yS6Wc2aUPmRQs3cNjspxDC1fOhjRDBMZWbygaxPSiI7AWACSSzfdJgAefh3J2n4VYTgeG/6Vs+6aIYW1btLFtQoE6DQSYnTbkK6Y4389HNLIvkbE9sNZtKzt/aIdyZPhPnzpnwHaRb93JaU5UEuzQBrIVVAJliZPoD1Fc64/8A21xAC2ViJ68zz6mJ6g1Y4DirllCqNEmY0OsADccgBXKsqxyo7JYdcb7k36YsMyNh7ymM+e02k+IeNNIP/ue6kHCYy46XHZlm2ikZhEiQoEjbcAab10TtZimxWGFq7HtKwYLqCoI28wSPQmlLB9m2S1eUaqwRc7KQs+IjVc0H2THl76teDJeojD3cbW+24k4zjnfuPDlCoY1nUx5Dyojw+4BZLyCfZGokSdjz3PPrQu/wO9hryqyB2KsVysIOUiTJjboRV6zbuYx7aWrJD2zrmPhQjmzbwCPZA1I8qaoqCjHgknJycpcjD+jhQOKNnRbiG0EcsJyhwSSv7JkAek+tO/GeFm2zIwzWpOWfaCknKf3hEaitOy/AVw85ozuQWaIkgAD3ACmLhvaC0cYMI8MWts4B1UFSIEHmVzn0Q1K/cdF1F446hGudmkOniZm9lZkz6CuhdjuyYw1hA6gPOaN4OkE9W0mjFjB21bMiInmqgEz6CrocASTFWjirnc555r42Nl51DiLeYEe4es1ubwC5j9Kx9v6086qQOV8dwfd3XA2OoEfdJkfOR7qDEGmHt3IdCCRIcaEjQZGXY9HNcl4v2oxFu66rcMCIBVW5A7kTXlZvROWR6aPTx+qUcachk4haxGcm2QV08Mjfn4Wgc+tULvELtvW5bgdSIH8Q8PzqC3x1wuYs0mDoQ2pjSDHMxoKH8c4813DEMoEssdSsNBOscq6seKGlRa3RzTyS1NpqgmOOKfu/5lNZRM4gc7c/wn5mso+xj8g93J/tObLUgqFWrbNXQTTDPELQSxh2Xk2noV1+lQ4vhjv4raO7AjRQWIA8gCQNq8xthPstt0usWEl7ZMhTmyggbrIg86PcF401lGN1QF9qUMkbDVTqaCVAk7L3DezGIunS26jmWBXT301X+xi9wVKuBlgsGDDUQZBj5UB/3rRUzKzNpICoST00IHzrMJ+kdWEM5Q81KlT5ezp8aNI2trg5zxXhjYe61piCV5jbXUb+VNfCMCjXEYKASJkCNwOmlBu1+PF7EZgI8C6nnqddz1+VMvZM5lVj91B8vP3UmT4R8K6g/wATwyPZZLgOQ5ZIEldfa920+dT4RkyqqMCAABLSYAgb6mpbJ5HmB/P8qr8W4OHUG1ltuDuBCtI2YLB5b8vOa8mXU6b2OyM1Hei6mFmZ6c63wnAxOihQdyBBPw99KP8AtLE2rqWh42dcwhgZBzaeLLB8B6/OjNrtpetwLtvKOrLlH8RhfgTXTh9NolcwZPVao6YOhzs8Oy2oAnQkCSPQAERy3mjQdSB4TsAAV28vYNK3D/0lWYGa3HKQfD5anT50awvazDPqIHnlH1rvg4Rb6ufO38nLPXNJJceN/wCAq5AECOkabem1ZZbKsnTcn03+lBOKdpCqu1pFaAq2wR7Vxz7ZPK2g35kk7ASaj8YvOmRnXUQ0IFnr5ifxpc3qceJbu/sbFgnN+PuCLq52LH7xJPqTP41PhRlrfJUvcGvAUm3Z7Do0xWsVtw9NSrCUYQ3kRqrDUaqddxpI50R4XwNrpzNKp15nyX8/rRjE4JUNsIBC5tBvsDJ6+vnXdhwzf+o+P5OOeWF6BfPZ3CC3N2ybtz/qTD5mA0DKQbaREASOep1PnAezdvDqcqxJJMksdT+02pjbWjqYYtpESQB5CNNOWx+VXhYS2BMT5mB8dhXd7bkkuEc7lGDb5YJxeDuFD3SgtHhk5VnlJ6elJXDf0fYl8SDiGZQzFrl5DBkCRlO6HQBTELHx6kDIk6epH12pd4p2gk5bRgft9fTy8zRkoYVbZouWZ1Q1ZG3zKQPw8+dVcVfFtTcImAT7wNhO0+VJq3DuC2bqCdf8U1Pdxd1rZRnbKY0Jk6ajxHWKWPqV4C/S+GW7PEXRcwYg+vM76bVZ7LM903L9xmYaokkkGPbMHzge5qWeJ47KkDVth60c4L2jW1aS2U8KqBo3xMEDUkk786TFk6upls8G41FA/wDSiMtyz0If4gL+EVwXtA037vqB/lAruv6QuJJiEtG2GLI50IAOUrB1mNwprjPF+BXDcZ8jBWcydJALbhd4AZZ31O9dGuLns+xxyi1jpruVMdjwbRQqyNpofIjY+6tuJr4bS/vKPw/GpeNPKKp5sB9ai4s0ta0jxfitMTG/vqyh+HxEqDWVCjq1ITK2rysroOUtWR+qb+631WiuI/sP/tj/AE15WUJAj3JcGP1Vv+4KzHWgbZJAJA0kbVlZSj9gBaH0b6Gnfsh/yp9D+NZWUub4RsHxDevte/8AGpSdB6j615WV5L5Z0CbinP8AtRBJgMAPIG2SQPeSfeaclNZWV7OL+mvsjhn8TAvbDBolnOqKr/tBQG/iGtBuHuTYzz4v2vvfHevayknwBbB3hGIaB4j8TTMuqyd6ysrw83LPdh8KPBRG2sss66j6ivKypYuQyHFxFVggZmkA+uvIVlZX1XY8BG+H9j4/U0Kx+IYNozD2tiR9wVlZWHXJS7M/r7xS9+tXKxy3PGsgiDDSJ1Pxq1x20BfeABtsP3RWVlcWX4P1OuH9T9CgNqq4k6VlZXKdqFzEtNz3H8KIWNhWVlJ8xpA7j5hTHl9aBYxyttQCQMw0Gg2H5V5WV2Yfhkeb6j4kUuI2wUaQDGokTB6+tK+P/tbVeVlD03DGz8oNodB6D6VlZWV0HKf/2Q==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563" name="AutoShape 11" descr="data:image/jpeg;base64,/9j/4AAQSkZJRgABAQAAAQABAAD/2wCEAAkGBhQSERUUExQWFBUWGBcYGBgYFx4XFxkWGBgYGBcYGhUYHCYfHBkjGhcYHy8gIycpLCwsFx8xNTAqNSYrLCkBCQoKDgwOGg8PGiwlHyQsLCwsLCwsLCwsLCksLCwsLCwpLywpLCwsLCwsLCwsLCwsLCksKSwsLCwsLCwpLCwsLP/AABEIAMIBAwMBIgACEQEDEQH/xAAcAAACAgMBAQAAAAAAAAAAAAAFBgMEAAIHAQj/xABIEAACAQIEAwUFBAcFBwMFAAABAhEAAwQSITEFQVEGEyJhcTKBkaGxFELB0QcjUmKS4fAzcoKishUWJDRTwvFDY9Jzg6PD4v/EABoBAAMBAQEBAAAAAAAAAAAAAAECAwAEBQb/xAAxEQACAgEDAwIFAwIHAAAAAAAAAQIRAxIhMSJBUQQTMkJhcfCBkbEz0RQVI1JiocH/2gAMAwEAAhEDEQA/AByWqmW1W6JUoSuYQiFusNupwteEVgkYSpQlYBUoFALK6pW3dVuq1Iq1gEPd1nd1Zy1nd0AFR1gVt9n8qkvJoat27U0UZg44UVo2Eov9lqS9w4gA9ZrWAAPhjUD4fyo6cLUZw1GzC+bFeGzRxsJUFzA+VazAUWBNW7NmpzhIq1Ywoo6kYjtWqspbqzbw46VaSyOlDWgFJbVe9z5URCVhWhrBQMbDnpUD4Y0VdaguCtrYaBT4WoWwtXcdfCKW6ecfOgtzjR5BB/iY/RKOoNFk4WtDhhVJuMHqv8LH6xUTcVb9r4IPxY1tQaCAwwrPs46VTXGsRudiZgD6CiaDSinYKIO4HSsqzlrKICyi1KFrRRW7PAJPIT8KUc9itTS1jO2azCo2XqSBPwmtMP2tX9kx5NJ+BArU/AaGjlUqjSqWFxi3EDqZB93qKuWdqBmYordRWKKkVawpgFexWwFe5aBiJ7cijHAMErnxCfBO53zKPoaGEUW7NXwDr+wR81P4UAPgI/ZwLgWBBUacvb/nV/F8ITKm5GhidPEdQee8VTbEDvU9w/zLV7DcZs3gVt3AxtlVcayrZhoZHVW+BpAFS9wMMfD4T6aH+elDl4OCrGfEGA8vZZvwFNNthofIf186GYVx+sH74+jj8axrA9jgLNvC9OfTpsNRVe/wZpPhIjedBpvrTZYUT8fqtZi0EXB/XiQVrZkc5x+GymDuDW1m3VjtBbBvT5D5gVllaLYxvbWp1FaqtSAUtgMrU1sa1NExG9QXKnYVE60xgRxeyzWyECluQacvypYfD4n9iyvun6mnZ0qBrI6CmQUJ32PEn79tfRB+Ve/7OxHO/wDAAfhTb3Q6V5lHlR/QNi3h+D3TGa8xHPzHQ9aOraipiwHMfGvC6/tD4imFsiy1lbG8n7S/EVlagWS1HiPYb0P0oVc44yiSo+JqI9oidMm/nR0MoDLNhelYcJroKo2uNJvluctNPwq7hOKpcMBWBmNTU/bmPqQzDBIEJGgAJ8JjYTyMVF2euMS2ZidBEkwNddKFYki2dQdRyb3eVWeA8QBuhQp8QjU7c/w+dO4tu6FGhVqQLQrE8XKXCoUGI1nqAelV73aYoJKA+jfyoaWxRgivYpcs9rSxgW/838q1/wB8f/b+f8q2iRhkNF+zdoH+FvkQKRX7XRE29xPtfyq5wz9IHcie5zbj249qD0/drOEgPg6C2HBvII5n5MtQdn8IAuJgD/m7m3+A/hSvw/8ASN3t+2BYgswX29BnYCfZ5U48ESPtg6YptPVVNRlFrkULpglIEjkP+2gWHw4z3I5ER/EopotjT3H6D8qWsO361/Q/Iuf+2jVIBZsWDyJ5/hWq8L7qERnylJ8TFjJZifE2sa6DkIFX7Q299bYseG03SAfQgflUmzHPuMA94J6D5afhW1iveO/2p8iR8z+dZhdaq+Byyoqh2g4qcPZ7xUzmYiSORPIHp0q8by9Rp50F7bqDhNs3jECCZIViNAQTttNCPO5krdC8v6QbpaDbVIBmWJIjfNoI/rrXi9s77We8CwYc8isIRJ3BjWPUH1pWCQxJYox+7lCyeQgHmQPrXl3EzbyyoABiAAxnUyRrBgjXXXpFW6eyG9trkOYbt1iblxUm2uZgJIMCTEnWp+P9psTh7gUOrArm1SGGpBBGYiZB2JHmaS69e4SZJJPUmT8TVaRMYl7W4wiZVQQxnJAOVSxg8zArV+P4s73lGqg6AAZlL6mOQEHzIpeu3maMxJgACTMAbAdKjijRqCb9pcQf/VPwH5VC3G7x/wDUb5flVGsiiEtHi17/AKjfGtDxK5+23xqvFeRWMOXCb+Gayhu3AHjxTcYGQSNprKTJrKINI94q34PeKp2k8Q9RV7EP4Dp0+oqlbvARvv0H50SjAFjDMBoDG1EOGuFuKNRsNevuq63CigYhzueW0nkZqlh8CFcGWMEHcCSDz0oRvuT0uy3iuLi79yMo5uNeukDpyqfs7iZvLoBr59PMmocbwJEVWDMZnmPXp51vwW2FuLA+8NZ/ClSfc65vHXSt/wBQzxI/rz5qv41SxJVtGJA6hc3uAka++rfFT+uHmg+rUMx3NumUT6zRic7JcPkDALnPI5gPkAT8zWg4e8klGA6kRVfBk5h61O2PuSQHI15AD6Ci77GSNr+GLEZVLacgTzPStnwhCw3g1HtaVFexLjLDsJBmDHPyr2/mC6sSSFO8861hou8GtBb1o5gSLiac/bWuwcOYd7jgNP1y/HIJPxmuK8KJ71NSfGvP94V13s5jhdv8Qyg5e8Ug9SFZG05aqTXNn5QrQ22dvj+P5Upq8X3H/wBT6Mfxprw50Hqf+6lPF/8ANn+6x/ytU3wKGrFzb3/jV17Oazl55RHrGlJOIuk4zAEOVB70QNiQgeI55vZ+FG+LcYuWmwr22RrLXLdi6JBylyqggg6GSZ6QNNTEJ9hlEUeMXc10nz/AVvhFkHWNDr0031qpiFc2rV5xDXA2YbQyuyTH7wTN/iq3w4/17qu+DdiMWSv3nJgMA2UKSF1GillDNqQJ2JGkg0O1Y/4NFaDN5PaOb7rEjUCQCenIUTZmDQgQewYIOkTnBKyFgZMu4kN6gdxzCsyIVYXGUu8NqGCywGnMAEafGatHZpitalRz1sIfG3dFSQ4UKwCgAEOSoBOm+4Hw1FYm2AqkGRAkxAkyYn89dNqeMX2ZXEut3DraClR4SSIu6lswCmd033g9dVlOApkR2OcMCOgV1d1YT972QZ89tKtKUd3XIIQltFsDTXlSXcIRcZLYkA/AflWjoVMMIIoDuLR5RTsvg0u4lEdQykPIO2iMRt5xVXBWwwcEScsjnt/Qq/2P/wCbSDHhuf6GpZSpNga2Gu92ew6kRYTZp3jlG5/qa1t8DsaxYt6dRPLcb0SOYGc33T92Y1EaDnXgRiWIfePujoKhFuUtS4JN0q7gteAWGD/q1EM0Qo9I220+dRjgoL+G1h8mbmnijNry9aKWbD6w/wB5vuj9o1HbRgg8ewn2Pf1q0cqbpCtPycyu+0Y2k/WspvPYm3/1H+C/lWU+pFdaLd1JRvShoGtWMOp17wZ+njYQNeURt51HdxNv7qR8fxanKls3cysDuPmJGtULepq2LZILAkSu2m0bbeVVEuRy+JrA3osX7pyFTyckejSSPj9azhw8QPmPrVnE4Qd0H5kifny91UrDGR+Qov6AV9wxxo/rU/un5H+dDsQJDDWCFO06qWj61b4pfVriBWUmCCAwJGoiQDpQzi2KyWiwEnSPf+FJHgLRvhkg1q5GY8teZH50sYbjTq8tBHMQB8D5UQZ7qKGFvwaATJYgxExsT+NG6GphjEuDl16/1tVfE3z3b5dW8IHkJjn03qQnMiEAjfQ7jaQR1maLcK4SjqW3nLI6EHX4iPhQZkAOFXrttv1hzCJBB1BEHeiXB+KOMRa/WXINxHfVjmIfNsWCknq3UnaiQ7PratXHvNqFeDrAAB8R6k7+WnOkgYwNchAQpbKM2pgnSQOflRhv8QJpfKdW4t+l/EJee3ZwyG0hhs7RcYkScpVio9rT2uXWAoszMol00AmSAPZG07a9dd6nbgMNbW2wIYw0aQIBJ3JiC25OoAqr2pwHcMmU5lYMAT7WjZiDy3YGRHSoqNfYOlVtyF8a73MPh7dvNmtd4WKaEKykELGssCdqWsHw8pJVWCsyLEGMwJJIHWBS5iLtwXO8LMGmQ4Os8iG9IrovE+0I+z2meVuOqMVgySVBcDpBI0Pw6nTXcybSoqcK4r3WHcNHh7phrsApRhoDrmJNW8H29RRHdufeBQThXELCD+ydrgmf1ZdRMx4JjY6ZhVD7ehP6yyUUTraUhifPvNI9IotJi6R5Hau1cyhIDNoqkgANIK5hIGjAe6etQpiGsMBdvWMqsSsMqnxBhquYEr4hoNutKnDOK2ywt21cA5iS7DzOyiiBv20JLFUEbnSa2mjLZUWrnF1wpa6jq4aR3aMDLE+GIJgb6mYkgVQw/aY3bgsYiyLS3DClZlGbRTHqdx1q9ewneICtssqtmLKFgQp3Y76GYE7DSoMNge/vWwFkqweegWCPdmgeZI5a0t06KpalqJ8V2dVEATW7BiBOaJaPI9PXnVvsxg8vePcSLkrqV8cGdJieQohj73d5WbcHYjllZT9ZnyoXxbijtZAtMVzkSy+0FgyAeRkASOUxT7XYttqiLtJwqxaPeKmR2000Vp1Ph2B05R6GZoHwPCPYvC6oS4AGABuBDqI5g1JwG1eXEra7y49t1cuCZAhTDgNIBmIPOpcXgTbcodco3jcHUHQVmlK74EkmukL3ON3CZNg7RpeTr5gVovHmE/8ADvr0uWzyA/a8qCZV8q97keVaMIpUibh5DVrtEQNcPe3Y6ZDuxP7fnVbEdp0S3D2rq6RJVYmP71DTa/qahvYdCPHOnU6fOl9uMbYygpOgoe3GH6XP4R/8q8pPuYNAYzk+iyPrWU9I3sobb2PVLZc7DTTcnaBS8nHATqsDrM/KKO2+AXbmFRymZTqQAcwySsx0ImhuK4cjAFAM2WPL1PnRlJJ0VjFtDBgxmQx0+o0odl1o2vZdlQKLgLBQNZAJA8j+FAFZldkZcrLuOY6c6aXSrYq3dBt769wFkZtNOe5/CgnEiy2mKgzttyJ1NS3scVT46gkHT0MUBOOZ58R3/r1pIzUuBpQceShbsMpBAIMyCNwQeVdBwGHS/hACFF2Jkk665tR0ggaDShHB7D3WS2RBYkhiP2QSZHUCTA3pq4n2fW0BdRspXQk6QCApIgQAeY0Amhq8jNJVuL3C+yC3bjswChGIGUmGfQjf7gBk9ZA61sxNtLuZSBaYKzDUaE5cpPtA9OUiYq1f4ibYk3yATshzesxy9ao8c4s1zDd2CHSVgj2omYOoMgkcvfFLWtbm1aXaAl7ijACFAA5k5zrqZg7kyaaOznFQEJafFqIHu126UvcM7PliAdA2k6fIfgddtN4L2eHuhCIhaF2AJJYFphVBJMRsKGSTqocjwxrmfAz4u9bv2nH3XDITsQI19/5UoW8EEQqIJAgkCDMiCBzhvXbpEi7/ABdpaGZD+xlDAaQZkSDoalsYhnbwXSZImFjUzrBnoSYGwo1JpWLcYt0O93ClbQuYdLYLoMw8WdQwk5CWKlgeUDb3UuY3jLXMuaPDOWNIJ3M76iOfKr2FsHDvbd3D+C6WZnJChTbiJjLoxGgEzz0pc4nebEXZtgIlxztOkgSGnnoW0geI7VpRaezBGu6PbuPRiM0mDvAbXTUExzorw8i9c7wsZRCIYQZzSTBPMEa+RoNxrg3cqCpnMNfUa7ek0Y7NYQLYW6Sc7Zl1MbeFYHoZnyoSrTaHVqdMr8Z4ibFwtbOtxQPQA6EjnuRvQXC8RuO8M05yFk8i2k+ETHuPpTTj+zFu4rXWdgfZWPEAQ2uYHWBDAifpBG9neEpbxiG6yuFYwVnLmE5TqAfajlQhGDXG4rfU2iVuyOIwlwPdVcniXMrBhMbHYj4VmE4Wl/O7hj4iF30VdNh5zXScdws4i33ROWYJMTlI1Gkjn+NK1zgzYZsmYsD4xAywduZPNZ/rRsjkg4lFvcrdgmaxiL1hiTaIDKDqMy5QdOXhYA9Y8qYsDg7WCW47uqgsQCxiEBOUf3jufQVR4Fwlla5ehiXgDTTKsnwgakHST1FCMdGIxhS7OVAAq+o1NNfTqYKuTiiHjHGvtd9VtkZfCoBhJGmYywkmZ28tDTJjeC23tsEEE6hjLEsOZk7HYxpQHivZhWzZBBGvM/ExH/iqP+8N6zaU95rp7Rkc53mDKkUimvAzxST5GLAcJXDgs5LXMstHQchOkfCforC+qvcJuFs/i/WaNO2/09K1xPaZ7oi44YGJiCdNRoADuKEpxINcGsIRzjfXWj8W1bAa0bt7hO4UMmYHLXNPu0NSYVgVEMp/8+dL926xPhiQxMwJksYj3VrZutIQmSIK7mGH3QFBnN7MdSPOmUKdoRy1KmOGDS1mi60AjSDHi03kHlNCO2UB0RABbCgjqWO5ZusRpyrpfBeGW7NsBVAYgFiQMxJGoJHTaBpVDjvZnv7meVykCQw5jTSPd8KbehIpWciZ+gHwFeV0wdh7P7M+e3yrKagjRhmCIBEAAADyAgfShfE+HodrasTuD4d+YIEg6z51fc/taAfOoBJ16n+Z90CgD6gzjPEWtZBlBdhMCTAB0gASZPlyoJj79/EkAWllQdAVDx5kmdDy0HUVR4jxS4l57TS+UndyGgkkCQdRBB161rheLtbjILiwdNQ3rGvOanJyZRVX1LGN4NcMqoaQCCIzH4qPppVLg/A3S7leI3Gmjagc9Rr1o/w3tQ99lRRmJ6qwA6mQxEDrTLw3sMrpcupdJvs2Yg6INzkC7ga+0Z2G2tInXSuR1zclsAcOgtG3ceJViSPMsV+h+tbdo+12Ga2UkmQwy5ZMxpPKJIMzyq5fw/d2MTcvJlbDqPCw0YvmABBnUkL5GfSuZIqky5gkSIG/QDlWxpvng2Wr2J/tCkNlJBkRDECDqdNhEEe8UwcE7Ofar/dW2Yqkd5cDyqidgVjMx1gep2BpQvCDA5fWur9lO1Nu3hEUWGnci2JLsTqxEjxaDXmI20FW2XJPd8BnEdjFGlgi3oPCQWBIG+aZB89deVWezfZx0fvboEr7K6HXaSR8qhucec906qwtus6gg5vvJJGXMsgEa89qvcP7Qq27BdYOaFIgDWZg6z/WlLUNX1KXPR9Ch2+7HpisM9wIO/RSytHiMCchPMEaCdiR5zxTAWmZjlbII8RE6KdNhqZmI5zX0WvHLJQ5rtserjqeU+lchu8PtW3ZVURm5bEAyp05RBpcmRQFhic9kBu0GPdltWzMoHzNp4wSkTBIkZdfdRPhXAcRb7gnDv4jrIgBSDLNOg8Kz4thHUUz8J7SWrfg+z7ZZKHLmGm7asSI2222roWAxNq/bVlAZGDDUctVII6zIPoaMZKaNUobtHJ8RhTiBbtoPE7KJ3B0I1+JPu6VWxdjuT9ncXVZv1gzQAczwyqRuBp728hXV+F9nbGGYlAS8RLEHKOg0H5mN6pcb4bhFW6W7prpRvbcPc0BICi4xZADqAsbTWhjpbjZZ6n0nO8OWCsCxK940TvLAsxJjqJ97eVD7Ny2xyh9QPEMo0jfWevlRbApbdyCSfE7bwsAKqgRrJLEyDsv72lwdnbYJNvw5hrMtOw3LaaCj7Ep3KJNZ44+lljgPahu/WwC16YzsT7AECcx3OoBG+o86eDg0eCyqxG0gEjrvXOuHcLWxcK2yFYgFZZTcbUydcpCyI3Oo5c2PD4fELqb2vTVx6HMfoBWpx6WjalLdOg1jcVbtg52C+p1gRsBrA8utcsXGIuL7wkspYqSSNV+6eWmnnpTle4fexV1bRKDQ5mUk5VJEsUO3SJ1JonhP0WYRTL57ohYVyCJG5IAG/Tag9Utuw6cYq+4Cw7eBojKBEzMjkdD6fCkrifA8Rc7+9ZQm2B4ogsFeQDk9ogxuBpXWe1HZgeG5aQBAMrKBAAHstA0gDwnpC1P2O4MbZe8RGZQijqAZJ9OQ99ThFwnRbJJThZxXGY62RBtEOAQ5zBh7LbCNBJ33oVhcM2XOFDRO+w5D11NfQnbDs/axFh1a2M5EBgBnHSGI6wKSeHcDttaUEA5cn3Q05QAse8A6datOWkhjx6zmFzBuGkjLPX3U29h+xDNc7+4YVCMkfefyPQbz/QLca4QjMtxlmLg0ETAaTrtBFHH7Qt3mQWxPLx6ERIIkaAjXnvSe7Grk6Q0sTWyQTxVgi2TbUZgPj5Ejb1oO3a60UAOdTppCnXY+0ddfKgvG7l24SxJCkSq5iY5yNBr86Vr+PA9vMJ19kwfeN6Hu6t4boMcUUupjvc7VLOltyOsqPkNKyklyq6Ozq2hI00kSBv0IrKbVP8AEDTD8Y6cGzC0oJaN4Yzrv1+Qoo7STr+ArnHBu0N+wAoK3kAjKTsOinRh6ajyo9/v5aIOdblpuemYe4iD8qqSYudokzY696ge9UtyKgt8OYBTLKG28XzgGo7d4XLmcjxPcuz11UFddzB5VctKAdGnQkjxeEmNIaB8BSPYaO+wz9grBWzcJMzcYAx91fwLE06cLxfd3AZ0Oh9D+R/GlzgFjJh7QGsrnka63CX+WamXsuUdyWPjTQDbfSRrrB5cpHu8lasnqLj5OylHHuUv0w2nOEs2xE3b4Unl4UdlBPmTP+GuQ3cFctAB136jaSdPLVTX0bx/hNrGWGsXZAYggj2lZdVdSeYP1I50vWv0ekBVuXlZQYY93qVExEkw0+o191evLUuDjiovk4Z9jZ7mWQCTEnQe810jhmCVAqXdYUA7gggRB26bjyoVj+zaHixw1qWT7RbTUycptK96T5S2tdK452HRrISwSr20hGmToIUMT7QJgdddIoTi2tgRlTA9rBplEISOsuPmTBqQcNBEAFfeT/qNKOGv4m1lJuqNdQFYk+REx8Qa8Hbty0MH3jwAamJ+74tgdPKp2muP2oe2ntL97GS/2fYiQ6k9CpUHykMY9aXb3A2RsrkKYBEHOvPZ4GbY8tPOrNrtdZbRmKnox/8AlBo2ONIy2gqpcCgxLhcp3MllA1gGZ+HOE3HjgtGWRPyLrcDxWWLVosDvLqnwzGflTbwfiAwlm2t0922USgXPGktMcpnarVriAI2j0IYfEUJdkOIDXFJtzqdNWjSQTHIaetUWSMV0tEG5SvUghiv0g2QsqjufQAb6HMdRy5UgMXui5eBICmCer3ZBX+DOT5R1o3xfiklgciJPhzeN4jlrrrrsaGcS4yBY7pBkVQlyICll8XjWBrqsHNBlhQ1vIi2NPG05UuO4Os8NZ1zZ7i6wMsEaR90gmdak+yXVPhxC6cmTKesEhh9Kt8IvlrCkKACXgzzzEdPIVXx9z9WsnL3hLHyBlt/QRQw5Hbi1wSbc5Sd7FTGC8CneJavZmyrJJ1gtHjGghTzqxbx2IT9XbRbR02bwhTzyq0VBxTA3Gt2O6RmOYeyP3SPa2G+5otwvgmLt/wBpYeGyksWSRIAAILyYOn0qze1pb/cNU9La/YY+x3FbeBVziHH6wqTdO4jQLA+5qSAOZO86O+A4/Yvki1cS5G5VgwBIkCR5VyvifZYXIL50K6jQx8CI51v2PwN3B3yc6taYa8mzAypjbYkb9Omgxz2phyQ3uKOyqa8kVRs8Q0BOgPy9elTX8QB748+tdBA8vWmbbz89fy0pe4j2WPtWVkR4k5gjmP65eel692rsW8q+IvEkKIjpJJAkjXSi2Cui4quJh1DDrBEx60rqXSPFyh1CpgeyjIGa6As+wu7DqxPnpp0HnQ18IBIYQw+IB0iPQnb3EV0R7IPKg3aLB2zZJbQqZBk7kCEPVW2jap5MMZRoeOVuW5zHtAxDhnIyhBlKzldSAcwMSdCB5bHWoU4FZxSKQ7QN1yqHB6HmPdvUvbXBtctLkg5HLp1XMPGoPQwpjqPOlG3Yvw7kZcgkBhJOhJysp6j51PHGMKUQ5IvuMt39H1pjLXbxPUkE6aDUidq8oVa+1FQQywQD7bjcTtWV07+Dnr/kBQ/TT0/PervC+HoxzuRIIUTqCYJ9kAk8/LSqVMXZPjLWA4AUhsphp5T0I61KTpcnVX0PLGGtKIS2DPMwFnodZk7e17qJW+xl25MWltht9YWP7sSPnRTDcU764ixbstJCuAFgwfvRMnb30xpg7wWDdBP92D/pqUYXumCU9OzVATG4K5YsEkpuqjICAoM66segA051S4UzB0QkKsiTqSVO4gc4J93zZzwLOIu3HeeU5V6xuW/zVH/u5lfMh66N59G/P40vs6d4oMcy4bL1jE2wbZRlm3lJWRng+BpnxEeICTuTzmjOO49YUQbqk9B4ztGoSfLeNqAf7BXWSTPwmI291VOGcItNfurdJK2wDlPhX2gCSBA2iP73lXUtXgl0eSxwu/hrV25ezqz3GLAAF7gz5e9gKuYA5F3/AGdPNys4xHVihmMsyCpGxEhgDqDPwoHfxdnD2z3ahZk6ADQ9SxAjSI8qX8b2izK62mkkOM/MIxBARvQQSOQHuV5UtikcDkrQK7RYdkxFzSAzF16FWMz8Z94NBb4EEkCVBYGNQQpgijXafiNp7eGKuWuJbW3cQAypCrJ1A+9I0nlSxjsYO6cz91h7yIGv+IfEV5zxtZG4+Tu1ReOpeDXh/FTe0ZEZTOpHSNIM9egra4uFDQVNtuqMV/0kfSh/Zr2R5ZvmEqvxS8Q46Ev9E/Ecq9DU9VHn6IqCkF8BiD3zhMUVRe7K95DTI8QJbKdD0POpuJcX0IOIzx/0wF0nWSCx2n7wpSdM0wNBr6V5d4c6gEjoY9RNH24c6UJrl5YdPEjbyh7TWg6ghmRpdSPaBMFgZmdaE4+8CxytIyxPXxD38qOcD7a3LeEu4Nlt3LV0QO9BJtmdSjctywB2YkjcyCxoCOxT2Src5iVIieYEz7hVGkt0KntTGngR/wCBQ+V0/wD5G/KrFzs4MQUzuO7URlG5MRJOkR76qcAVe4UXWCiGKqi5mOZi4Bbb70QP5VHh+DXLl1nVntASWIYoxYxlAAjMY1iPdrXHHDNOTT5ZTEluvI5YXCLbHhEaATzIG0mvOJ4y4to5CRqDoenQHnSvwV773Lq28SYt93GdA+bMsmSMrCCIoq13GKIa3ZvD9xyjfC4I+dNGGWDtbhk8cuT3D9qLy6Fw/Vbqz9Yb50V4dxSzekPFg6alhkMSSMzRlPkeg15Uv3+LqB+vw962OZKZ0/jUkUrYiyb5LkFU3VQdAvI68/P8Irp1xmmpRpk9Lh8MjslntXg5FsYqwSsADvAfdmJg+41cv8QVuRIALeEGI15rM89BqelfO12wRvRrsr2tuYNsupst7aabaglTurQTtoeYNFbC9zpfHri3gl2zDKAVLowI0IIBjYiTv1iinZftMVC2bkDL7D9ROqn97XTrEbxPMMZ2oZb73sMptKAiMkKoZcsB2VBlljJ0205bNXBsG74VDcDJdJJdSNCpZipXWQcuXSpSi1LVEsnFx0s6wL2eY0I3+AOnuINDsYgdSrag7zStwrGtbuoBorFQwLfdE+8kctoI5gxTO2LB+98d/fFVhLUhJx0MSuN8P7n2tbZOjdJ5Hp67UpE9NpMf16RXTeM8XsW1/WuokERGZmHRUGvvOlcux+NtqzFZCZtJ9qCQBIBPOuP1GF/Kdnp8t/F+5tWVo12DBBn0P5VlcWiXg69UfKFUNU+Dt57ip4pY5VymDmMQP/OlVBRLs4B9rsTyefeA0fOK9dHmy4J+HJeJZfCzozJkcQxy8jOk77jlTJwf9IzWnNvE22AWAxAkp01BgiOWnkeVRYTBh8TxCxsWa3dQ9GIkH4us+RNLOAsOuIZVfuyUzaCQYI0I586FRQqlKSp7/nk6Pa/SNac/qreYdTcCn3KA31r212qu3cRaSRYtZ1zbAsBq2e4+ymCIWN96S8DYt4iQ623ZTBZRlP8AEus1j2UtNlW/csno47xD6c/jUmp30yX2KxWNK5Qf3Tv/AKOvPxC2de9t+64v4NQ/7Xhxczi8gaIJVxJGmhiZGg+ArmBxt1bi2wLd8uCVNtspMSSDOgMCYq/hrNwg5bF8P0OQL5+MsKLyZV8poYcL+f8A8HHtHxLDnDsqurMSp+8SYYH2iOnnSjb4qFJAlmOyqMzesDYeZgVXxWFcQLzgBtSiasQHtggudYys2wA03qtjOLGzNu1aFmN5HiPn095LUjxOb1T2KLKsa049/q+CrxviV22YyhCYJMhnAPn7IOnKd6qcWGVLSAmCs6nk2WPkoqti7rXA7MSxAGp15gfSiF/gN66guIpKjIkkqJbUkKS3iiRMbSJ3E1jGGPjY55ynke+5P2dtQsnYqW90KNfhTH2l7BPa4YmMuSrjKO75gXWks55GSoyjadddAZ7Cdk0TE2bd51ZlGZkIInLmy6HQqWWfMLtFdN7R8C+14O9hz7TDwk7Zgc6mfURRUd3IWbpKJ8/dl8Mj5c/hUsc5Bg5QJgb9DuOdedpOIl9RbRQfZAXZfuyeZold4BcwpZQpzeyQRDKeenP3aGl/EYe+zeJXPlBj4D8KKmmZ45Il7F9nWxmKFoIHlX9okKvhMOSCCQpIMDfbnXacV+iLDJaQ4dSt62sB8x8ZjxZwTHi8tuW0UpfovsWsMyO5m67QRuRm0A+Os/yrteeR/X9TW2mmgNODTOD3banQqOYIKiQdiPlFarYthSqjKCCNNN946TRXtngu6xt8AQGYXPXOoJP8Wagi3D614knLFJxi2e7jSnFTrlC7xHhndXXObMLgDAn2gV9oE/DXzoRa7SYm3CpdbQnQnPOu0PPT50x9oG8Vv+7c/wD10vYHh04heYjOfiQB8RXsYcjliUpcnjZ8ajlcYjMMVevKlq8R4vG+VYkLsuh11g+4VHZ4oIylQBIAH7ugH4H/AA0Z4JcRruUxmiQOcbN9RVjiHYtPbV9ZJObT4T60Fl3pjSw7WgO/B7dwMQCcsfkJ6E7xO3zS8bhIulYAiZ6af186fbfDe5OYnbfaB8Nz59ekVFwfsz9uxWe4ctgEB2G55hVGk9SRyj311KrIuDugLh+wuOa2rLhrjI6WnBVcysp1HiXSYbb1rpHA0udyq3kIYADWJ0HkZBrqmD4altQijwqAAOgACgfACg/ajg4K50Hi8uf9aUs3NK4cmgoN1IUMOik6tkj9rT4cvnV1MvJgfeCflQO9iYOn5j8apO5mvO/zGS5R3P0KfEhpv2FYEMoYHcESPgaX8d2Kw9zYNbP7p0/hYEfStW7RXEIUhWAHMQT6kEa6b1T4jxp7pIHhT9kdP3m5/IeVdn+Jg42cXs5Iugfi+y1ouf8Ai2HpaLD+JTBrKB3cBiJMYm6ByAYwB03rK3vR/LG0T/GKk1b4Pdy4iyelxP8AUBVHNWyMRqNwZHrVzWO/E75s8SZhvcw6keo8B+EfKl/HqVxFuNMylfmR+NEeJ8XW/i7F1QQhW4ozCCd32k6SdPWg3E8WWxCMdACpHoT/APzSveQFtH9Qxwyx3TiHLKdAGjTnuOtWe0tgZA8THTfWo2tkCTpG3ryq9xPxYcEcoPzBqMtpJl4PoaE4she0VaSWg7giSI/GmW3iL6Dw3ngwNYbQnqwJHuNJSNBXyI+Rpvw2LVyMrBtRsdd+Y/MVSakt0yUJRk6ki9j+HgJoTMEkzJMjnO8kAe+qNjEo9le8yjKoALeW8fKmW9es2VVrx0JCqIzAnckjaAOtT8R7NWXtkIq2mQnKQoAJI22nKSTttvXN7unn9y8lu9Io8B7PLiXyAkW8rO79LSeJyojUwIExqw3poxl9VFt3TLaRT3NgEjcAjM28KrKWO7M7ftSsvZbg/wBlsX5c5/sziV5AMh8M7nzPyqjxl/tVyyiZsq2lDkrl5nMQuYxIyiJ5UryKTfg6sOF6de6d9v7/AIwlwFrwxT37rOt2SrgMMuh0XKpggDSJIg+8vydvwBraLEbENAJHqCQPj+avZtB7aNbBm2EsvpE5VHdkGTIyg25/9tZ3pvwfAbWRcyKTAkxvpqapi9yS6Wc2aUPmRQs3cNjspxDC1fOhjRDBMZWbygaxPSiI7AWACSSzfdJgAefh3J2n4VYTgeG/6Vs+6aIYW1btLFtQoE6DQSYnTbkK6Y4389HNLIvkbE9sNZtKzt/aIdyZPhPnzpnwHaRb93JaU5UEuzQBrIVVAJliZPoD1Fc64/8A21xAC2ViJ68zz6mJ6g1Y4DirllCqNEmY0OsADccgBXKsqxyo7JYdcb7k36YsMyNh7ymM+e02k+IeNNIP/ue6kHCYy46XHZlm2ikZhEiQoEjbcAab10TtZimxWGFq7HtKwYLqCoI28wSPQmlLB9m2S1eUaqwRc7KQs+IjVc0H2THl76teDJeojD3cbW+24k4zjnfuPDlCoY1nUx5Dyojw+4BZLyCfZGokSdjz3PPrQu/wO9hryqyB2KsVysIOUiTJjboRV6zbuYx7aWrJD2zrmPhQjmzbwCPZA1I8qaoqCjHgknJycpcjD+jhQOKNnRbiG0EcsJyhwSSv7JkAek+tO/GeFm2zIwzWpOWfaCknKf3hEaitOy/AVw85ozuQWaIkgAD3ACmLhvaC0cYMI8MWts4B1UFSIEHmVzn0Q1K/cdF1F446hGudmkOniZm9lZkz6CuhdjuyYw1hA6gPOaN4OkE9W0mjFjB21bMiInmqgEz6CrocASTFWjirnc555r42Nl51DiLeYEe4es1ubwC5j9Kx9v6086qQOV8dwfd3XA2OoEfdJkfOR7qDEGmHt3IdCCRIcaEjQZGXY9HNcl4v2oxFu66rcMCIBVW5A7kTXlZvROWR6aPTx+qUcachk4haxGcm2QV08Mjfn4Wgc+tULvELtvW5bgdSIH8Q8PzqC3x1wuYs0mDoQ2pjSDHMxoKH8c4813DEMoEssdSsNBOscq6seKGlRa3RzTyS1NpqgmOOKfu/5lNZRM4gc7c/wn5mso+xj8g93J/tObLUgqFWrbNXQTTDPELQSxh2Xk2noV1+lQ4vhjv4raO7AjRQWIA8gCQNq8xthPstt0usWEl7ZMhTmyggbrIg86PcF401lGN1QF9qUMkbDVTqaCVAk7L3DezGIunS26jmWBXT301X+xi9wVKuBlgsGDDUQZBj5UB/3rRUzKzNpICoST00IHzrMJ+kdWEM5Q81KlT5ezp8aNI2trg5zxXhjYe61piCV5jbXUb+VNfCMCjXEYKASJkCNwOmlBu1+PF7EZgI8C6nnqddz1+VMvZM5lVj91B8vP3UmT4R8K6g/wATwyPZZLgOQ5ZIEldfa920+dT4RkyqqMCAABLSYAgb6mpbJ5HmB/P8qr8W4OHUG1ltuDuBCtI2YLB5b8vOa8mXU6b2OyM1Hei6mFmZ6c63wnAxOihQdyBBPw99KP8AtLE2rqWh42dcwhgZBzaeLLB8B6/OjNrtpetwLtvKOrLlH8RhfgTXTh9NolcwZPVao6YOhzs8Oy2oAnQkCSPQAERy3mjQdSB4TsAAV28vYNK3D/0lWYGa3HKQfD5anT50awvazDPqIHnlH1rvg4Rb6ufO38nLPXNJJceN/wCAq5AECOkabem1ZZbKsnTcn03+lBOKdpCqu1pFaAq2wR7Vxz7ZPK2g35kk7ASaj8YvOmRnXUQ0IFnr5ifxpc3qceJbu/sbFgnN+PuCLq52LH7xJPqTP41PhRlrfJUvcGvAUm3Z7Do0xWsVtw9NSrCUYQ3kRqrDUaqddxpI50R4XwNrpzNKp15nyX8/rRjE4JUNsIBC5tBvsDJ6+vnXdhwzf+o+P5OOeWF6BfPZ3CC3N2ybtz/qTD5mA0DKQbaREASOep1PnAezdvDqcqxJJMksdT+02pjbWjqYYtpESQB5CNNOWx+VXhYS2BMT5mB8dhXd7bkkuEc7lGDb5YJxeDuFD3SgtHhk5VnlJ6elJXDf0fYl8SDiGZQzFrl5DBkCRlO6HQBTELHx6kDIk6epH12pd4p2gk5bRgft9fTy8zRkoYVbZouWZ1Q1ZG3zKQPw8+dVcVfFtTcImAT7wNhO0+VJq3DuC2bqCdf8U1Pdxd1rZRnbKY0Jk6ajxHWKWPqV4C/S+GW7PEXRcwYg+vM76bVZ7LM903L9xmYaokkkGPbMHzge5qWeJ47KkDVth60c4L2jW1aS2U8KqBo3xMEDUkk786TFk6upls8G41FA/wDSiMtyz0If4gL+EVwXtA037vqB/lAruv6QuJJiEtG2GLI50IAOUrB1mNwprjPF+BXDcZ8jBWcydJALbhd4AZZ31O9dGuLns+xxyi1jpruVMdjwbRQqyNpofIjY+6tuJr4bS/vKPw/GpeNPKKp5sB9ai4s0ta0jxfitMTG/vqyh+HxEqDWVCjq1ITK2rysroOUtWR+qb+631WiuI/sP/tj/AE15WUJAj3JcGP1Vv+4KzHWgbZJAJA0kbVlZSj9gBaH0b6Gnfsh/yp9D+NZWUub4RsHxDevte/8AGpSdB6j615WV5L5Z0CbinP8AtRBJgMAPIG2SQPeSfeaclNZWV7OL+mvsjhn8TAvbDBolnOqKr/tBQG/iGtBuHuTYzz4v2vvfHevayknwBbB3hGIaB4j8TTMuqyd6ysrw83LPdh8KPBRG2sss66j6ivKypYuQyHFxFVggZmkA+uvIVlZX1XY8BG+H9j4/U0Kx+IYNozD2tiR9wVlZWHXJS7M/r7xS9+tXKxy3PGsgiDDSJ1Pxq1x20BfeABtsP3RWVlcWX4P1OuH9T9CgNqq4k6VlZXKdqFzEtNz3H8KIWNhWVlJ8xpA7j5hTHl9aBYxyttQCQMw0Gg2H5V5WV2Yfhkeb6j4kUuI2wUaQDGokTB6+tK+P/tbVeVlD03DGz8oNodB6D6VlZWV0HKf/2Q==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Rounded Rectangular Callout 1"/>
          <p:cNvSpPr/>
          <p:nvPr/>
        </p:nvSpPr>
        <p:spPr>
          <a:xfrm>
            <a:off x="2699792" y="764704"/>
            <a:ext cx="5256584" cy="1224136"/>
          </a:xfrm>
          <a:prstGeom prst="wedgeRoundRectCallout">
            <a:avLst>
              <a:gd name="adj1" fmla="val -68451"/>
              <a:gd name="adj2" fmla="val 89568"/>
              <a:gd name="adj3" fmla="val 16667"/>
            </a:avLst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If you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could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change one thing    about your country, what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</a:rPr>
              <a:t>would</a:t>
            </a:r>
            <a:r>
              <a:rPr lang="en-US" altLang="ko-KR" sz="2400" dirty="0">
                <a:solidFill>
                  <a:schemeClr val="bg1"/>
                </a:solidFill>
                <a:latin typeface="+mj-lt"/>
              </a:rPr>
              <a:t> it be?</a:t>
            </a:r>
            <a:endParaRPr lang="ko-KR" alt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060848"/>
            <a:ext cx="1559818" cy="1310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aixaDeTexto 13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6157" y="3068960"/>
            <a:ext cx="2218291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2-Point Star 2"/>
          <p:cNvSpPr/>
          <p:nvPr/>
        </p:nvSpPr>
        <p:spPr>
          <a:xfrm>
            <a:off x="-540568" y="332656"/>
            <a:ext cx="10873208" cy="3024336"/>
          </a:xfrm>
          <a:prstGeom prst="star32">
            <a:avLst/>
          </a:prstGeom>
          <a:solidFill>
            <a:srgbClr val="0070C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latin typeface="+mj-lt"/>
              </a:rPr>
              <a:t>Think about one topic and ask a partner a question     like this: </a:t>
            </a:r>
          </a:p>
          <a:p>
            <a:pPr algn="ctr"/>
            <a:r>
              <a:rPr lang="en-US" altLang="ko-KR" sz="3200" b="1" dirty="0">
                <a:latin typeface="+mj-lt"/>
              </a:rPr>
              <a:t>What WOULD you do if… </a:t>
            </a:r>
            <a:endParaRPr lang="ko-KR" altLang="en-US" sz="3200" b="1" dirty="0">
              <a:latin typeface="+mj-lt"/>
            </a:endParaRPr>
          </a:p>
        </p:txBody>
      </p:sp>
      <p:pic>
        <p:nvPicPr>
          <p:cNvPr id="7" name="Picture 1" descr="C:\Documents and Settings\manager\Local Settings\Temporary Internet Files\Content.IE5\U5VP3O7F\MM900043731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996952"/>
            <a:ext cx="2160240" cy="3224102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2195736" y="63000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Milton P. Jr. </a:t>
            </a:r>
            <a:r>
              <a:rPr lang="en-US" dirty="0">
                <a:sym typeface="Wingdings" pitchFamily="2" charset="2"/>
              </a:rPr>
              <a:t> educationnow@yahoo.com.br</a:t>
            </a:r>
            <a:endParaRPr lang="pt-BR" dirty="0"/>
          </a:p>
        </p:txBody>
      </p:sp>
    </p:spTree>
  </p:cSld>
  <p:clrMapOvr>
    <a:masterClrMapping/>
  </p:clrMapOvr>
  <p:transition spd="med">
    <p:sndAc>
      <p:stSnd>
        <p:snd r:embed="rId2" name="whoosh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Conditional II</a:t>
            </a:r>
            <a:br>
              <a:rPr lang="en-US"/>
            </a:br>
            <a:r>
              <a:rPr lang="en-US"/>
              <a:t>(present/future – impossible)</a:t>
            </a:r>
          </a:p>
        </p:txBody>
      </p:sp>
      <p:pic>
        <p:nvPicPr>
          <p:cNvPr id="11271" name="Picture 7" descr="GreatWall3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538016"/>
            <a:ext cx="4038600" cy="2650331"/>
          </a:xfrm>
          <a:noFill/>
          <a:ln/>
        </p:spPr>
      </p:pic>
      <p:sp>
        <p:nvSpPr>
          <p:cNvPr id="11274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484313"/>
            <a:ext cx="4572000" cy="5373687"/>
          </a:xfrm>
        </p:spPr>
        <p:txBody>
          <a:bodyPr>
            <a:normAutofit/>
          </a:bodyPr>
          <a:lstStyle/>
          <a:p>
            <a:r>
              <a:rPr lang="en-US" sz="2800" dirty="0"/>
              <a:t>When something is NOT possible now, or in the future.</a:t>
            </a:r>
          </a:p>
          <a:p>
            <a:r>
              <a:rPr lang="en-US" sz="2800" dirty="0"/>
              <a:t>Form:</a:t>
            </a:r>
          </a:p>
          <a:p>
            <a:pPr>
              <a:buFontTx/>
              <a:buNone/>
            </a:pPr>
            <a:r>
              <a:rPr lang="en-US" sz="2800" dirty="0"/>
              <a:t>   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If (</a:t>
            </a:r>
            <a:r>
              <a:rPr lang="en-US" sz="2800" b="1" dirty="0">
                <a:solidFill>
                  <a:srgbClr val="996633"/>
                </a:solidFill>
              </a:rPr>
              <a:t>past</a:t>
            </a:r>
            <a:r>
              <a:rPr lang="en-US" sz="2800" dirty="0"/>
              <a:t>), </a:t>
            </a:r>
            <a:r>
              <a:rPr lang="en-US" sz="2800" b="1" dirty="0">
                <a:solidFill>
                  <a:srgbClr val="996633"/>
                </a:solidFill>
              </a:rPr>
              <a:t>would +V</a:t>
            </a:r>
            <a:r>
              <a:rPr lang="tr-TR" sz="2800" b="1" dirty="0">
                <a:solidFill>
                  <a:srgbClr val="996633"/>
                </a:solidFill>
              </a:rPr>
              <a:t>base</a:t>
            </a:r>
            <a:r>
              <a:rPr lang="en-US" sz="2800" dirty="0"/>
              <a:t>.</a:t>
            </a:r>
          </a:p>
          <a:p>
            <a:r>
              <a:rPr lang="en-US" sz="2800" dirty="0"/>
              <a:t>Example:</a:t>
            </a:r>
          </a:p>
          <a:p>
            <a:pPr>
              <a:buFontTx/>
              <a:buNone/>
            </a:pPr>
            <a:r>
              <a:rPr lang="en-US" sz="2800" dirty="0"/>
              <a:t>    If he </a:t>
            </a:r>
            <a:r>
              <a:rPr lang="en-US" sz="2800" b="1" dirty="0">
                <a:solidFill>
                  <a:srgbClr val="996633"/>
                </a:solidFill>
              </a:rPr>
              <a:t>spoke</a:t>
            </a:r>
            <a:r>
              <a:rPr lang="en-US" sz="2800" dirty="0"/>
              <a:t> Chinese, he </a:t>
            </a:r>
            <a:r>
              <a:rPr lang="en-US" sz="2800" b="1" dirty="0">
                <a:solidFill>
                  <a:srgbClr val="996633"/>
                </a:solidFill>
              </a:rPr>
              <a:t>would work</a:t>
            </a:r>
            <a:r>
              <a:rPr lang="en-US" sz="2800" dirty="0"/>
              <a:t> as a guide in China. (</a:t>
            </a:r>
            <a:r>
              <a:rPr lang="tr-TR" sz="2800" dirty="0"/>
              <a:t>BUT</a:t>
            </a:r>
            <a:r>
              <a:rPr lang="en-US" sz="2800" dirty="0"/>
              <a:t>: He doesn’t speak Chinese, so it’s impossible.)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468313" y="5445125"/>
            <a:ext cx="2540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5099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Narrow" panose="020B0606020202030204" pitchFamily="34" charset="0"/>
              </a:rPr>
              <a:t>Let’s analyze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1023"/>
            <a:ext cx="7886700" cy="39567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u="sng" dirty="0">
                <a:latin typeface="Arial Narrow" panose="020B0606020202030204" pitchFamily="34" charset="0"/>
              </a:rPr>
              <a:t>If + simple past tense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u="sng" dirty="0">
                <a:latin typeface="Arial Narrow" panose="020B0606020202030204" pitchFamily="34" charset="0"/>
              </a:rPr>
              <a:t>S + would / could / might + verb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 IF CLAUSE                       MAIN CLAUSE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                                  OR</a:t>
            </a:r>
          </a:p>
          <a:p>
            <a:pPr marL="0" indent="0">
              <a:buNone/>
            </a:pPr>
            <a:r>
              <a:rPr lang="en-US" u="sng" dirty="0">
                <a:latin typeface="Arial Narrow" panose="020B0606020202030204" pitchFamily="34" charset="0"/>
              </a:rPr>
              <a:t>S + would / could / might + verb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u="sng" dirty="0">
                <a:latin typeface="Arial Narrow" panose="020B0606020202030204" pitchFamily="34" charset="0"/>
              </a:rPr>
              <a:t>if + simple past tense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       MAIN CLAUSE                     IF CLAUSE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* If + simple past tense, S + would / could / might + </a:t>
            </a:r>
            <a:r>
              <a:rPr lang="en-US" u="sng" dirty="0">
                <a:latin typeface="Arial Narrow" panose="020B0606020202030204" pitchFamily="34" charset="0"/>
              </a:rPr>
              <a:t>be verb-</a:t>
            </a:r>
            <a:r>
              <a:rPr lang="en-US" u="sng" dirty="0" err="1">
                <a:latin typeface="Arial Narrow" panose="020B0606020202030204" pitchFamily="34" charset="0"/>
              </a:rPr>
              <a:t>ing</a:t>
            </a:r>
            <a:r>
              <a:rPr lang="en-US" dirty="0">
                <a:latin typeface="Arial Narrow" panose="020B0606020202030204" pitchFamily="34" charset="0"/>
              </a:rPr>
              <a:t> (for continuous situations)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* If the verb in if clause is “be”, we use “were” for all subjects in academic English. “Was” is used in spoken English.</a:t>
            </a:r>
          </a:p>
          <a:p>
            <a:pPr marL="0" indent="0">
              <a:buNone/>
            </a:pPr>
            <a:r>
              <a:rPr lang="en-US" dirty="0" err="1">
                <a:latin typeface="Arial Narrow" panose="020B0606020202030204" pitchFamily="34" charset="0"/>
              </a:rPr>
              <a:t>Eg</a:t>
            </a:r>
            <a:r>
              <a:rPr lang="en-US" dirty="0">
                <a:latin typeface="Arial Narrow" panose="020B0606020202030204" pitchFamily="34" charset="0"/>
              </a:rPr>
              <a:t>. If it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were</a:t>
            </a:r>
            <a:r>
              <a:rPr lang="en-US" dirty="0">
                <a:latin typeface="Arial Narrow" panose="020B0606020202030204" pitchFamily="34" charset="0"/>
              </a:rPr>
              <a:t> the weekend, I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would</a:t>
            </a:r>
            <a:r>
              <a:rPr lang="en-US" dirty="0">
                <a:latin typeface="Arial Narrow" panose="020B0606020202030204" pitchFamily="34" charset="0"/>
              </a:rPr>
              <a:t> still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be sleeping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Clauses (unreal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4000" dirty="0"/>
              <a:t>Unreal situations</a:t>
            </a:r>
          </a:p>
          <a:p>
            <a:pPr>
              <a:buNone/>
            </a:pPr>
            <a:r>
              <a:rPr lang="en-US" sz="4000" dirty="0"/>
              <a:t>Example: </a:t>
            </a:r>
          </a:p>
          <a:p>
            <a:pPr>
              <a:buNone/>
            </a:pPr>
            <a:r>
              <a:rPr lang="en-US" sz="4000" dirty="0"/>
              <a:t>	</a:t>
            </a:r>
            <a:r>
              <a:rPr lang="en-US" sz="4000" i="1" dirty="0"/>
              <a:t>If I </a:t>
            </a:r>
            <a:r>
              <a:rPr lang="en-US" sz="4000" i="1" dirty="0">
                <a:solidFill>
                  <a:srgbClr val="FF0000"/>
                </a:solidFill>
              </a:rPr>
              <a:t>knew</a:t>
            </a:r>
            <a:r>
              <a:rPr lang="en-US" sz="4000" i="1" dirty="0"/>
              <a:t> the address, I </a:t>
            </a:r>
            <a:r>
              <a:rPr lang="en-US" sz="4000" i="1" dirty="0">
                <a:solidFill>
                  <a:srgbClr val="FF0000"/>
                </a:solidFill>
              </a:rPr>
              <a:t>would tell </a:t>
            </a:r>
            <a:r>
              <a:rPr lang="en-US" sz="4000" i="1" dirty="0"/>
              <a:t>you</a:t>
            </a:r>
            <a:r>
              <a:rPr lang="en-US" sz="40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Remember: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>
          <a:ln cap="rnd"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sz="3200" dirty="0"/>
              <a:t>The four words that </a:t>
            </a:r>
            <a:r>
              <a:rPr lang="en-US" sz="3200" b="1" dirty="0"/>
              <a:t>NEVER</a:t>
            </a:r>
            <a:r>
              <a:rPr lang="en-US" sz="3200" dirty="0"/>
              <a:t> (well, </a:t>
            </a:r>
            <a:r>
              <a:rPr lang="en-US" sz="3200" b="1" i="1" dirty="0"/>
              <a:t>almost </a:t>
            </a:r>
            <a:r>
              <a:rPr lang="en-US" sz="3200" dirty="0"/>
              <a:t>never) appear in the </a:t>
            </a:r>
            <a:r>
              <a:rPr lang="en-US" sz="3200" b="1" dirty="0">
                <a:solidFill>
                  <a:srgbClr val="FF0000"/>
                </a:solidFill>
              </a:rPr>
              <a:t>IF</a:t>
            </a:r>
            <a:r>
              <a:rPr lang="en-US" sz="3200" dirty="0"/>
              <a:t> clause are:</a:t>
            </a:r>
          </a:p>
          <a:p>
            <a:pPr>
              <a:buFontTx/>
              <a:buNone/>
            </a:pPr>
            <a:endParaRPr lang="en-US" dirty="0"/>
          </a:p>
          <a:p>
            <a:pPr lvl="1">
              <a:buFontTx/>
              <a:buNone/>
            </a:pPr>
            <a:r>
              <a:rPr lang="en-US" sz="3200" b="1" dirty="0"/>
              <a:t>    will, won’t, would, wouldn’t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>
              <a:buFontTx/>
              <a:buNone/>
            </a:pPr>
            <a:r>
              <a:rPr lang="en-US" sz="3200" dirty="0"/>
              <a:t>If we will see it, we will be angry.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H="1">
            <a:off x="6215075" y="4357694"/>
            <a:ext cx="720725" cy="720725"/>
          </a:xfrm>
          <a:prstGeom prst="line">
            <a:avLst/>
          </a:prstGeom>
          <a:noFill/>
          <a:ln w="88900" cmpd="dbl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6286512" y="4357694"/>
            <a:ext cx="649288" cy="720725"/>
          </a:xfrm>
          <a:prstGeom prst="line">
            <a:avLst/>
          </a:prstGeom>
          <a:noFill/>
          <a:ln w="88900" cmpd="dbl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>
                <a:solidFill>
                  <a:srgbClr val="002060"/>
                </a:solidFill>
                <a:latin typeface="Arial Narrow" panose="020B0606020202030204" pitchFamily="34" charset="0"/>
              </a:rPr>
              <a:t>Some examples for different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04846"/>
            <a:ext cx="7886700" cy="326350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Positive sentences</a:t>
            </a:r>
          </a:p>
          <a:p>
            <a:r>
              <a:rPr lang="en-US" dirty="0">
                <a:latin typeface="Arial Narrow" panose="020B0606020202030204" pitchFamily="34" charset="0"/>
              </a:rPr>
              <a:t>Your boss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be </a:t>
            </a:r>
            <a:r>
              <a:rPr lang="en-US" dirty="0">
                <a:latin typeface="Arial Narrow" panose="020B0606020202030204" pitchFamily="34" charset="0"/>
              </a:rPr>
              <a:t>happy if you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were trying</a:t>
            </a:r>
            <a:r>
              <a:rPr lang="en-US" dirty="0">
                <a:latin typeface="Arial Narrow" panose="020B0606020202030204" pitchFamily="34" charset="0"/>
              </a:rPr>
              <a:t> to sell more advanced and expensive models.</a:t>
            </a:r>
          </a:p>
          <a:p>
            <a:r>
              <a:rPr lang="en-US" dirty="0">
                <a:latin typeface="Arial Narrow" panose="020B0606020202030204" pitchFamily="34" charset="0"/>
              </a:rPr>
              <a:t>You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suggest </a:t>
            </a:r>
            <a:r>
              <a:rPr lang="en-US" dirty="0">
                <a:latin typeface="Arial Narrow" panose="020B0606020202030204" pitchFamily="34" charset="0"/>
              </a:rPr>
              <a:t>a more advanced model if your customers really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needed</a:t>
            </a:r>
            <a:r>
              <a:rPr lang="en-US" dirty="0">
                <a:latin typeface="Arial Narrow" panose="020B0606020202030204" pitchFamily="34" charset="0"/>
              </a:rPr>
              <a:t> it.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Negative sentences</a:t>
            </a:r>
          </a:p>
          <a:p>
            <a:r>
              <a:rPr lang="en-US" dirty="0">
                <a:latin typeface="Arial Narrow" panose="020B0606020202030204" pitchFamily="34" charset="0"/>
              </a:rPr>
              <a:t>I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wouldn’t make</a:t>
            </a:r>
            <a:r>
              <a:rPr lang="en-US" dirty="0">
                <a:latin typeface="Arial Narrow" panose="020B0606020202030204" pitchFamily="34" charset="0"/>
              </a:rPr>
              <a:t> the decision for them (if I were you).</a:t>
            </a:r>
          </a:p>
          <a:p>
            <a:r>
              <a:rPr lang="en-US" dirty="0">
                <a:latin typeface="Arial Narrow" panose="020B0606020202030204" pitchFamily="34" charset="0"/>
              </a:rPr>
              <a:t>I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might not get </a:t>
            </a:r>
            <a:r>
              <a:rPr lang="en-US" dirty="0">
                <a:latin typeface="Arial Narrow" panose="020B0606020202030204" pitchFamily="34" charset="0"/>
              </a:rPr>
              <a:t>so bored if I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didn’t live </a:t>
            </a:r>
            <a:r>
              <a:rPr lang="en-US" dirty="0">
                <a:latin typeface="Arial Narrow" panose="020B0606020202030204" pitchFamily="34" charset="0"/>
              </a:rPr>
              <a:t>in a small town.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Narrow" panose="020B0606020202030204" pitchFamily="34" charset="0"/>
              </a:rPr>
              <a:t>Wh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- questions</a:t>
            </a:r>
          </a:p>
          <a:p>
            <a:r>
              <a:rPr lang="en-US" dirty="0">
                <a:latin typeface="Arial Narrow" panose="020B0606020202030204" pitchFamily="34" charset="0"/>
              </a:rPr>
              <a:t>Where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live </a:t>
            </a:r>
            <a:r>
              <a:rPr lang="en-US" dirty="0">
                <a:latin typeface="Arial Narrow" panose="020B0606020202030204" pitchFamily="34" charset="0"/>
              </a:rPr>
              <a:t>if you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could live </a:t>
            </a:r>
            <a:r>
              <a:rPr lang="en-US" dirty="0">
                <a:latin typeface="Arial Narrow" panose="020B0606020202030204" pitchFamily="34" charset="0"/>
              </a:rPr>
              <a:t>anywhere in the world?</a:t>
            </a:r>
          </a:p>
          <a:p>
            <a:r>
              <a:rPr lang="en-US" dirty="0">
                <a:latin typeface="Arial Narrow" panose="020B0606020202030204" pitchFamily="34" charset="0"/>
              </a:rPr>
              <a:t>What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do </a:t>
            </a:r>
            <a:r>
              <a:rPr lang="en-US" dirty="0">
                <a:latin typeface="Arial Narrow" panose="020B0606020202030204" pitchFamily="34" charset="0"/>
              </a:rPr>
              <a:t>in my situation?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Yes/No questions</a:t>
            </a:r>
          </a:p>
          <a:p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want </a:t>
            </a:r>
            <a:r>
              <a:rPr lang="en-US" dirty="0">
                <a:latin typeface="Arial Narrow" panose="020B0606020202030204" pitchFamily="34" charset="0"/>
              </a:rPr>
              <a:t>to be a girl or a boy if you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had</a:t>
            </a:r>
            <a:r>
              <a:rPr lang="en-US" dirty="0">
                <a:latin typeface="Arial Narrow" panose="020B0606020202030204" pitchFamily="34" charset="0"/>
              </a:rPr>
              <a:t> the chance to choose?</a:t>
            </a:r>
          </a:p>
          <a:p>
            <a:r>
              <a:rPr lang="en-US" dirty="0">
                <a:latin typeface="Arial Narrow" panose="020B0606020202030204" pitchFamily="34" charset="0"/>
              </a:rPr>
              <a:t>If you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found</a:t>
            </a:r>
            <a:r>
              <a:rPr lang="en-US" dirty="0">
                <a:latin typeface="Arial Narrow" panose="020B0606020202030204" pitchFamily="34" charset="0"/>
              </a:rPr>
              <a:t> a lot of money on the street,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keep </a:t>
            </a:r>
            <a:r>
              <a:rPr lang="en-US" dirty="0">
                <a:latin typeface="Arial Narrow" panose="020B0606020202030204" pitchFamily="34" charset="0"/>
              </a:rPr>
              <a:t>it or </a:t>
            </a:r>
            <a:r>
              <a:rPr lang="en-US" b="1" dirty="0">
                <a:solidFill>
                  <a:srgbClr val="FF0000"/>
                </a:solidFill>
                <a:latin typeface="Arial Narrow" panose="020B0606020202030204" pitchFamily="34" charset="0"/>
              </a:rPr>
              <a:t>take</a:t>
            </a:r>
            <a:r>
              <a:rPr lang="en-US" dirty="0">
                <a:latin typeface="Arial Narrow" panose="020B0606020202030204" pitchFamily="34" charset="0"/>
              </a:rPr>
              <a:t> it to the police station?</a:t>
            </a:r>
          </a:p>
          <a:p>
            <a:endParaRPr lang="en-US" dirty="0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18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217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Narrow" panose="020B0606020202030204" pitchFamily="34" charset="0"/>
              </a:rPr>
              <a:t>Practice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2849"/>
            <a:ext cx="7532370" cy="39371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84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Fill in the blanks with the correct form of the verb.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1. Where _____ (you/travel) to if you _____ (can) go anywhere?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     Where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travel </a:t>
            </a:r>
            <a:r>
              <a:rPr lang="en-US" sz="8400" dirty="0">
                <a:latin typeface="Arial Narrow" panose="020B0606020202030204" pitchFamily="34" charset="0"/>
              </a:rPr>
              <a:t>if you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could</a:t>
            </a:r>
            <a:r>
              <a:rPr lang="en-US" sz="8400" dirty="0">
                <a:latin typeface="Arial Narrow" panose="020B0606020202030204" pitchFamily="34" charset="0"/>
              </a:rPr>
              <a:t> go anywhere?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2.  What _____ (you/do) if you _____ (be) in my situation?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     What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would you do </a:t>
            </a:r>
            <a:r>
              <a:rPr lang="en-US" sz="8400" dirty="0">
                <a:latin typeface="Arial Narrow" panose="020B0606020202030204" pitchFamily="34" charset="0"/>
              </a:rPr>
              <a:t>if you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were</a:t>
            </a:r>
            <a:r>
              <a:rPr lang="en-US" sz="8400" dirty="0">
                <a:latin typeface="Arial Narrow" panose="020B0606020202030204" pitchFamily="34" charset="0"/>
              </a:rPr>
              <a:t> in my situation?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3. If she _____ (know), she _____ (tell) you.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    If she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knew</a:t>
            </a:r>
            <a:r>
              <a:rPr lang="en-US" sz="8400" dirty="0">
                <a:latin typeface="Arial Narrow" panose="020B0606020202030204" pitchFamily="34" charset="0"/>
              </a:rPr>
              <a:t>, she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would tell </a:t>
            </a:r>
            <a:r>
              <a:rPr lang="en-US" sz="8400" dirty="0">
                <a:latin typeface="Arial Narrow" panose="020B0606020202030204" pitchFamily="34" charset="0"/>
              </a:rPr>
              <a:t>you.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4. I _____ (have) a better job if I _____ (speak) English better.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    I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would have </a:t>
            </a:r>
            <a:r>
              <a:rPr lang="en-US" sz="8400" dirty="0">
                <a:latin typeface="Arial Narrow" panose="020B0606020202030204" pitchFamily="34" charset="0"/>
              </a:rPr>
              <a:t>a better job if I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spoke</a:t>
            </a:r>
            <a:r>
              <a:rPr lang="en-US" sz="8400" dirty="0">
                <a:latin typeface="Arial Narrow" panose="020B0606020202030204" pitchFamily="34" charset="0"/>
              </a:rPr>
              <a:t> English better.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5. I _____ (never/forgive) you if I _____ (not be) your friend.</a:t>
            </a:r>
          </a:p>
          <a:p>
            <a:pPr marL="0" indent="0">
              <a:buNone/>
            </a:pPr>
            <a:r>
              <a:rPr lang="en-US" sz="8400" dirty="0">
                <a:latin typeface="Arial Narrow" panose="020B0606020202030204" pitchFamily="34" charset="0"/>
              </a:rPr>
              <a:t>    I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would never forgive </a:t>
            </a:r>
            <a:r>
              <a:rPr lang="en-US" sz="8400" dirty="0">
                <a:latin typeface="Arial Narrow" panose="020B0606020202030204" pitchFamily="34" charset="0"/>
              </a:rPr>
              <a:t>you if I </a:t>
            </a:r>
            <a:r>
              <a:rPr lang="en-US" sz="8400" dirty="0">
                <a:solidFill>
                  <a:srgbClr val="FF0000"/>
                </a:solidFill>
                <a:latin typeface="Arial Narrow" panose="020B0606020202030204" pitchFamily="34" charset="0"/>
              </a:rPr>
              <a:t>weren’t</a:t>
            </a:r>
            <a:r>
              <a:rPr lang="en-US" sz="8400" dirty="0">
                <a:latin typeface="Arial Narrow" panose="020B0606020202030204" pitchFamily="34" charset="0"/>
              </a:rPr>
              <a:t> your friend.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93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4911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>
                <a:solidFill>
                  <a:srgbClr val="002060"/>
                </a:solidFill>
                <a:latin typeface="Arial Narrow" panose="020B0606020202030204" pitchFamily="34" charset="0"/>
              </a:rPr>
              <a:t>Paraphrase the following sentences by using if type 2.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1. She doesn’t like her job, so she doesn’t fulfill her responsibilities.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    If she liked her job, she would fulfill her responsibilities.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2. I won’t go out tonight because I have an exam tomorrow.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I would go out tonight if I didn’t have an exam tomorrow.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3. Sally can’t swim, so she will not come to the pool with us.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Arial Narrow" panose="020B0606020202030204" pitchFamily="34" charset="0"/>
              </a:rPr>
              <a:t>    If Sally could swim, she would come to the pool with us.</a:t>
            </a:r>
          </a:p>
        </p:txBody>
      </p:sp>
    </p:spTree>
    <p:extLst>
      <p:ext uri="{BB962C8B-B14F-4D97-AF65-F5344CB8AC3E}">
        <p14:creationId xmlns:p14="http://schemas.microsoft.com/office/powerpoint/2010/main" val="73745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315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  <a:latin typeface="Arial Narrow" panose="020B0606020202030204" pitchFamily="34" charset="0"/>
              </a:rPr>
              <a:t>Complete the sentences using if type 1 or 2.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8993"/>
            <a:ext cx="7886700" cy="37509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 </a:t>
            </a:r>
            <a:r>
              <a:rPr lang="en-US" dirty="0">
                <a:latin typeface="Arial Narrow" panose="020B0606020202030204" pitchFamily="34" charset="0"/>
              </a:rPr>
              <a:t>Hey, Ray. If you (1) _____ (have) time, can you go and pick up Bridget at the station? If she takes the 4 o'clock train, as she said, she (2) _____ (arrive) at 5.15.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</a:t>
            </a:r>
            <a:r>
              <a:rPr lang="en-US" dirty="0">
                <a:latin typeface="Arial Narrow" panose="020B0606020202030204" pitchFamily="34" charset="0"/>
              </a:rPr>
              <a:t> I (3) _____ (pick) her up if I could, but I have a meeting at 4.30.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</a:t>
            </a:r>
            <a:r>
              <a:rPr lang="en-US" dirty="0">
                <a:latin typeface="Arial Narrow" panose="020B0606020202030204" pitchFamily="34" charset="0"/>
              </a:rPr>
              <a:t> Can't you postpone it? You are the boss after all.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 </a:t>
            </a:r>
            <a:r>
              <a:rPr lang="en-US" dirty="0">
                <a:latin typeface="Arial Narrow" panose="020B0606020202030204" pitchFamily="34" charset="0"/>
              </a:rPr>
              <a:t>Yes, but I'm meeting some important clients, and it wouldn't look serious if a few hours before the meeting I (4) _____ (tell) them that I have to put it off. And the meeting is important. I'll make quite a lot of money if everything (5) _____ (go) well. Why don't </a:t>
            </a:r>
            <a:r>
              <a:rPr lang="en-US" i="1" dirty="0">
                <a:latin typeface="Arial Narrow" panose="020B0606020202030204" pitchFamily="34" charset="0"/>
              </a:rPr>
              <a:t>you</a:t>
            </a:r>
            <a:r>
              <a:rPr lang="en-US" dirty="0">
                <a:latin typeface="Arial Narrow" panose="020B0606020202030204" pitchFamily="34" charset="0"/>
              </a:rPr>
              <a:t> pick her up?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 </a:t>
            </a:r>
            <a:r>
              <a:rPr lang="en-US" dirty="0">
                <a:latin typeface="Arial Narrow" panose="020B0606020202030204" pitchFamily="34" charset="0"/>
              </a:rPr>
              <a:t>I would pick her up if my car (6) _____ (not be) at the garage. It's been there for days, and unless there's a miracle, they (7) _____ (not repair) it today. Something is broken and they won't be able to fix it until they (8) _____ (find) the spare part they need.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 </a:t>
            </a:r>
            <a:r>
              <a:rPr lang="en-US" dirty="0">
                <a:latin typeface="Arial Narrow" panose="020B0606020202030204" pitchFamily="34" charset="0"/>
              </a:rPr>
              <a:t>That's unlucky. Well, do you think Bridget (9) _____ (get) angry if nobody goes to the station to pick her up?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</a:t>
            </a:r>
            <a:r>
              <a:rPr lang="en-US" dirty="0">
                <a:latin typeface="Arial Narrow" panose="020B0606020202030204" pitchFamily="34" charset="0"/>
              </a:rPr>
              <a:t> Well, if it were me, I (10) _____ (not get) angry.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8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3428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7107"/>
            <a:ext cx="7886700" cy="41428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 </a:t>
            </a:r>
            <a:r>
              <a:rPr lang="en-US" dirty="0">
                <a:latin typeface="Arial Narrow" panose="020B0606020202030204" pitchFamily="34" charset="0"/>
              </a:rPr>
              <a:t>Hey, Ray. If you (1)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have</a:t>
            </a:r>
            <a:r>
              <a:rPr lang="en-US" dirty="0">
                <a:latin typeface="Arial Narrow" panose="020B0606020202030204" pitchFamily="34" charset="0"/>
              </a:rPr>
              <a:t> time, can you go and pick up Bridget at the station? If she takes the 4 o'clock train, as she said, she (2)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will arrive</a:t>
            </a:r>
            <a:r>
              <a:rPr lang="en-US" dirty="0">
                <a:latin typeface="Arial Narrow" panose="020B0606020202030204" pitchFamily="34" charset="0"/>
              </a:rPr>
              <a:t> at 5.15.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</a:t>
            </a:r>
            <a:r>
              <a:rPr lang="en-US" dirty="0">
                <a:latin typeface="Arial Narrow" panose="020B0606020202030204" pitchFamily="34" charset="0"/>
              </a:rPr>
              <a:t> I (3)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would pick</a:t>
            </a:r>
            <a:r>
              <a:rPr lang="en-US" dirty="0">
                <a:latin typeface="Arial Narrow" panose="020B0606020202030204" pitchFamily="34" charset="0"/>
              </a:rPr>
              <a:t> her up if I could, but I have a meeting at 4.30.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</a:t>
            </a:r>
            <a:r>
              <a:rPr lang="en-US" dirty="0">
                <a:latin typeface="Arial Narrow" panose="020B0606020202030204" pitchFamily="34" charset="0"/>
              </a:rPr>
              <a:t> Can't you postpone it? You are the boss after all.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 </a:t>
            </a:r>
            <a:r>
              <a:rPr lang="en-US" dirty="0">
                <a:latin typeface="Arial Narrow" panose="020B0606020202030204" pitchFamily="34" charset="0"/>
              </a:rPr>
              <a:t>Yes, but I'm meeting some important clients, and it wouldn't look serious if a few hours before the meeting I (4)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told</a:t>
            </a:r>
            <a:r>
              <a:rPr lang="en-US" dirty="0">
                <a:latin typeface="Arial Narrow" panose="020B0606020202030204" pitchFamily="34" charset="0"/>
              </a:rPr>
              <a:t> them that I have to put it off. And the meeting is important. I'll make quite a lot of money if everything (5)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goes</a:t>
            </a:r>
            <a:r>
              <a:rPr lang="en-US" dirty="0">
                <a:latin typeface="Arial Narrow" panose="020B0606020202030204" pitchFamily="34" charset="0"/>
              </a:rPr>
              <a:t> well. Why don't </a:t>
            </a:r>
            <a:r>
              <a:rPr lang="en-US" i="1" dirty="0">
                <a:latin typeface="Arial Narrow" panose="020B0606020202030204" pitchFamily="34" charset="0"/>
              </a:rPr>
              <a:t>you</a:t>
            </a:r>
            <a:r>
              <a:rPr lang="en-US" dirty="0">
                <a:latin typeface="Arial Narrow" panose="020B0606020202030204" pitchFamily="34" charset="0"/>
              </a:rPr>
              <a:t> pick her up?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 </a:t>
            </a:r>
            <a:r>
              <a:rPr lang="en-US" dirty="0">
                <a:latin typeface="Arial Narrow" panose="020B0606020202030204" pitchFamily="34" charset="0"/>
              </a:rPr>
              <a:t>I would pick her up if my car (6)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weren’t</a:t>
            </a:r>
            <a:r>
              <a:rPr lang="en-US" dirty="0">
                <a:latin typeface="Arial Narrow" panose="020B0606020202030204" pitchFamily="34" charset="0"/>
              </a:rPr>
              <a:t> at the garage. It's been there for days, and unless there's a miracle, they (7)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won’t repair</a:t>
            </a:r>
            <a:r>
              <a:rPr lang="en-US" dirty="0">
                <a:latin typeface="Arial Narrow" panose="020B0606020202030204" pitchFamily="34" charset="0"/>
              </a:rPr>
              <a:t> it today. Something is broken and they won't be able to fix it until they (8)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find</a:t>
            </a:r>
            <a:r>
              <a:rPr lang="en-US" dirty="0">
                <a:latin typeface="Arial Narrow" panose="020B0606020202030204" pitchFamily="34" charset="0"/>
              </a:rPr>
              <a:t> the spare part they need.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Ray: </a:t>
            </a:r>
            <a:r>
              <a:rPr lang="en-US" dirty="0">
                <a:latin typeface="Arial Narrow" panose="020B0606020202030204" pitchFamily="34" charset="0"/>
              </a:rPr>
              <a:t>That's unlucky. Well, do you think Bridget (9)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will get</a:t>
            </a:r>
            <a:r>
              <a:rPr lang="en-US" dirty="0">
                <a:latin typeface="Arial Narrow" panose="020B0606020202030204" pitchFamily="34" charset="0"/>
              </a:rPr>
              <a:t> angry if nobody goes to the station to pick her up?</a:t>
            </a:r>
          </a:p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Terry:</a:t>
            </a:r>
            <a:r>
              <a:rPr lang="en-US" dirty="0">
                <a:latin typeface="Arial Narrow" panose="020B0606020202030204" pitchFamily="34" charset="0"/>
              </a:rPr>
              <a:t> Well, if it were me, I (10)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wouldn’t get</a:t>
            </a:r>
            <a:r>
              <a:rPr lang="en-US">
                <a:latin typeface="Arial Narrow" panose="020B0606020202030204" pitchFamily="34" charset="0"/>
              </a:rPr>
              <a:t> angry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1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67647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  <a:latin typeface="Arial Narrow" panose="020B0606020202030204" pitchFamily="34" charset="0"/>
              </a:rPr>
              <a:t>Complete the sentences to make them true for you.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15343"/>
            <a:ext cx="7975798" cy="3529882"/>
          </a:xfrm>
        </p:spPr>
        <p:txBody>
          <a:bodyPr>
            <a:normAutofit/>
          </a:bodyPr>
          <a:lstStyle/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If I were the prime minister, ______________________________.</a:t>
            </a:r>
          </a:p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If I the boss doesn’t like my project, ______________________________.</a:t>
            </a:r>
          </a:p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 will forgive you if ______________________________.</a:t>
            </a:r>
          </a:p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______________________________ if you weren’t my best friend.</a:t>
            </a:r>
          </a:p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If I don’t receive your e-mail, ______________________________.</a:t>
            </a:r>
          </a:p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If I were a millionaire, ______________________________.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57308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6" name="Picture 2" descr="C:\Users\Merve\Desktop\images 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958" y="3356992"/>
            <a:ext cx="4134742" cy="3384146"/>
          </a:xfrm>
          <a:prstGeom prst="rect">
            <a:avLst/>
          </a:prstGeom>
          <a:noFill/>
        </p:spPr>
      </p:pic>
      <p:pic>
        <p:nvPicPr>
          <p:cNvPr id="1027" name="Picture 3" descr="C:\Users\Merve\Desktop\image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188640"/>
            <a:ext cx="4679377" cy="33123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20AC9E-9C07-E162-E359-E6582C6C8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9AD2ED-1142-DC85-4D78-8A68D7B50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Titanic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 1997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romantic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disaster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film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directed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James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Cameron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movie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tells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story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Jack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Dawson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poor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artist,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Rose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DeWitt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Bukater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young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woman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from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wealthy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family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meet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fall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aboard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luxury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ship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tr-TR" b="0" i="0" u="none" strike="noStrike" dirty="0">
                <a:solidFill>
                  <a:srgbClr val="000000"/>
                </a:solidFill>
                <a:effectLst/>
              </a:rPr>
              <a:t>RMS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</a:rPr>
              <a:t>Titanic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during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first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voyage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1912.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Their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romance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develops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as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ship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travels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across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Atlantic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but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their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story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becomes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tragic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when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Titanic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hits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iceberg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begins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to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sink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film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combines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fictional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love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story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with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real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historical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disaster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became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one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the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most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successful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and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well-known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films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in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cinema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tr-TR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history</a:t>
            </a:r>
            <a:r>
              <a:rPr lang="tr-TR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tr-US" dirty="0"/>
          </a:p>
        </p:txBody>
      </p:sp>
    </p:spTree>
    <p:extLst>
      <p:ext uri="{BB962C8B-B14F-4D97-AF65-F5344CB8AC3E}">
        <p14:creationId xmlns:p14="http://schemas.microsoft.com/office/powerpoint/2010/main" val="677612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64672"/>
          </a:xfrm>
        </p:spPr>
        <p:txBody>
          <a:bodyPr>
            <a:normAutofit fontScale="90000"/>
          </a:bodyPr>
          <a:lstStyle/>
          <a:p>
            <a:r>
              <a:rPr lang="en-US" dirty="0"/>
              <a:t>Past unreal 3</a:t>
            </a:r>
            <a:r>
              <a:rPr lang="en-US" baseline="30000" dirty="0"/>
              <a:t>rd</a:t>
            </a:r>
            <a:r>
              <a:rPr lang="en-US" dirty="0"/>
              <a:t> conditionals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characters </a:t>
            </a:r>
            <a:r>
              <a:rPr lang="en-US" b="1" u="sng" dirty="0"/>
              <a:t>hadn’t been fictional</a:t>
            </a:r>
            <a:r>
              <a:rPr lang="en-US" dirty="0"/>
              <a:t>, it </a:t>
            </a:r>
            <a:r>
              <a:rPr lang="en-US" b="1" u="sng" dirty="0"/>
              <a:t>would have won</a:t>
            </a:r>
            <a:r>
              <a:rPr lang="en-US" dirty="0"/>
              <a:t> more than eleven academy awards.</a:t>
            </a:r>
          </a:p>
          <a:p>
            <a:endParaRPr lang="en-US" dirty="0"/>
          </a:p>
          <a:p>
            <a:pPr lvl="1"/>
            <a:r>
              <a:rPr lang="en-US" dirty="0"/>
              <a:t>Were the characters fictional?</a:t>
            </a:r>
          </a:p>
          <a:p>
            <a:pPr lvl="1"/>
            <a:r>
              <a:rPr lang="en-US" dirty="0"/>
              <a:t>Did it win more than eleven awards?</a:t>
            </a:r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64672"/>
          </a:xfrm>
        </p:spPr>
        <p:txBody>
          <a:bodyPr>
            <a:normAutofit fontScale="90000"/>
          </a:bodyPr>
          <a:lstStyle/>
          <a:p>
            <a:r>
              <a:rPr lang="en-US" dirty="0"/>
              <a:t>Past unreal 3</a:t>
            </a:r>
            <a:r>
              <a:rPr lang="en-US" baseline="30000" dirty="0"/>
              <a:t>rd</a:t>
            </a:r>
            <a:r>
              <a:rPr lang="en-US" dirty="0"/>
              <a:t> conditionals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Leonardo </a:t>
            </a:r>
            <a:r>
              <a:rPr lang="en-US" dirty="0" err="1"/>
              <a:t>DiCaprio</a:t>
            </a:r>
            <a:r>
              <a:rPr lang="en-US" dirty="0"/>
              <a:t> </a:t>
            </a:r>
            <a:r>
              <a:rPr lang="en-US" b="1" u="sng" dirty="0"/>
              <a:t>hadn’t played</a:t>
            </a:r>
            <a:r>
              <a:rPr lang="en-US" b="1" dirty="0"/>
              <a:t> </a:t>
            </a:r>
            <a:r>
              <a:rPr lang="en-US" dirty="0"/>
              <a:t>in the movie, it </a:t>
            </a:r>
            <a:r>
              <a:rPr lang="en-US" b="1" u="sng" dirty="0"/>
              <a:t>mightn’t have been</a:t>
            </a:r>
            <a:r>
              <a:rPr lang="en-US" dirty="0"/>
              <a:t> so famous. </a:t>
            </a:r>
          </a:p>
          <a:p>
            <a:endParaRPr lang="en-US" dirty="0"/>
          </a:p>
          <a:p>
            <a:pPr lvl="1"/>
            <a:r>
              <a:rPr lang="en-US" dirty="0"/>
              <a:t>Did Leonardo </a:t>
            </a:r>
            <a:r>
              <a:rPr lang="en-US" dirty="0" err="1"/>
              <a:t>Dicaprio</a:t>
            </a:r>
            <a:r>
              <a:rPr lang="en-US" dirty="0"/>
              <a:t> play in the movie?</a:t>
            </a:r>
          </a:p>
          <a:p>
            <a:pPr lvl="1"/>
            <a:r>
              <a:rPr lang="en-US" dirty="0"/>
              <a:t>Was the movie famous? </a:t>
            </a:r>
            <a:endParaRPr lang="tr-T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r>
              <a:rPr lang="en-US" dirty="0"/>
              <a:t>Past unreal 3</a:t>
            </a:r>
            <a:r>
              <a:rPr lang="en-US" baseline="30000" dirty="0"/>
              <a:t>rd</a:t>
            </a:r>
            <a:r>
              <a:rPr lang="en-US" dirty="0"/>
              <a:t> conditionals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it </a:t>
            </a:r>
            <a:r>
              <a:rPr lang="en-US" b="1" u="sng" dirty="0"/>
              <a:t>hadn’t been directed </a:t>
            </a:r>
            <a:r>
              <a:rPr lang="en-US" dirty="0"/>
              <a:t>by James Cameron, the movie </a:t>
            </a:r>
            <a:r>
              <a:rPr lang="en-US" b="1" u="sng" dirty="0"/>
              <a:t>couldn’t have reached</a:t>
            </a:r>
            <a:r>
              <a:rPr lang="en-US" b="1" dirty="0"/>
              <a:t> </a:t>
            </a:r>
            <a:r>
              <a:rPr lang="en-US" dirty="0"/>
              <a:t>success. </a:t>
            </a:r>
          </a:p>
          <a:p>
            <a:endParaRPr lang="en-US" dirty="0"/>
          </a:p>
          <a:p>
            <a:pPr lvl="1"/>
            <a:r>
              <a:rPr lang="en-US" dirty="0"/>
              <a:t>Was the movie directed by James Cameron?</a:t>
            </a:r>
          </a:p>
          <a:p>
            <a:pPr lvl="1"/>
            <a:r>
              <a:rPr lang="en-US" dirty="0"/>
              <a:t>Did the movie reach success?</a:t>
            </a:r>
            <a:endParaRPr lang="tr-T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428768"/>
          </a:xfrm>
        </p:spPr>
        <p:txBody>
          <a:bodyPr>
            <a:normAutofit fontScale="90000"/>
          </a:bodyPr>
          <a:lstStyle/>
          <a:p>
            <a:r>
              <a:rPr lang="tr-TR" dirty="0"/>
              <a:t>We use 3rd conditionals to talk about 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endParaRPr lang="tr-TR" dirty="0"/>
          </a:p>
          <a:p>
            <a:pPr marL="514350" indent="-514350">
              <a:buFont typeface="+mj-lt"/>
              <a:buAutoNum type="arabicParenR"/>
            </a:pPr>
            <a:endParaRPr lang="tr-TR" dirty="0"/>
          </a:p>
          <a:p>
            <a:pPr marL="514350" indent="-514350">
              <a:buFont typeface="+mj-lt"/>
              <a:buAutoNum type="arabicParenR"/>
            </a:pPr>
            <a:r>
              <a:rPr lang="tr-TR" dirty="0"/>
              <a:t>Past actions </a:t>
            </a:r>
          </a:p>
          <a:p>
            <a:pPr marL="514350" indent="-514350">
              <a:buFont typeface="+mj-lt"/>
              <a:buAutoNum type="arabicParenR"/>
            </a:pPr>
            <a:r>
              <a:rPr lang="tr-TR" dirty="0"/>
              <a:t>Unreal situations</a:t>
            </a:r>
          </a:p>
          <a:p>
            <a:pPr marL="514350" indent="-514350">
              <a:buFont typeface="+mj-lt"/>
              <a:buAutoNum type="arabicParenR"/>
            </a:pPr>
            <a:r>
              <a:rPr lang="tr-TR" dirty="0"/>
              <a:t>Their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55840"/>
          </a:xfrm>
        </p:spPr>
        <p:txBody>
          <a:bodyPr/>
          <a:lstStyle/>
          <a:p>
            <a:r>
              <a:rPr lang="en-US" dirty="0"/>
              <a:t>If the characters hadn’t been fictional, it </a:t>
            </a:r>
            <a:r>
              <a:rPr lang="en-US" b="1" u="sng" dirty="0"/>
              <a:t>would have won </a:t>
            </a:r>
            <a:r>
              <a:rPr lang="en-US" dirty="0"/>
              <a:t>more than eleven academy awards.</a:t>
            </a:r>
            <a:endParaRPr lang="tr-TR" dirty="0"/>
          </a:p>
          <a:p>
            <a:pPr lvl="2">
              <a:buNone/>
            </a:pPr>
            <a:r>
              <a:rPr lang="tr-TR" dirty="0"/>
              <a:t>	</a:t>
            </a:r>
            <a:r>
              <a:rPr lang="tr-TR" dirty="0">
                <a:sym typeface="Wingdings" pitchFamily="2" charset="2"/>
              </a:rPr>
              <a:t></a:t>
            </a:r>
            <a:r>
              <a:rPr lang="tr-TR" sz="2400" dirty="0">
                <a:sym typeface="Wingdings" pitchFamily="2" charset="2"/>
              </a:rPr>
              <a:t> certanity </a:t>
            </a:r>
          </a:p>
          <a:p>
            <a:pPr lvl="2">
              <a:buNone/>
            </a:pPr>
            <a:endParaRPr lang="tr-TR" dirty="0"/>
          </a:p>
          <a:p>
            <a:r>
              <a:rPr lang="en-US" dirty="0"/>
              <a:t>If Leonardo </a:t>
            </a:r>
            <a:r>
              <a:rPr lang="en-US" dirty="0" err="1"/>
              <a:t>DiCaprio</a:t>
            </a:r>
            <a:r>
              <a:rPr lang="en-US" dirty="0"/>
              <a:t> hadn’t played in the movie, </a:t>
            </a:r>
            <a:r>
              <a:rPr lang="en-US" b="1" u="sng" dirty="0"/>
              <a:t>it mightn’t have been</a:t>
            </a:r>
            <a:r>
              <a:rPr lang="en-US" dirty="0"/>
              <a:t> so famous. </a:t>
            </a:r>
            <a:endParaRPr lang="tr-TR" dirty="0"/>
          </a:p>
          <a:p>
            <a:pPr>
              <a:buNone/>
            </a:pPr>
            <a:r>
              <a:rPr lang="tr-TR" dirty="0"/>
              <a:t>		</a:t>
            </a:r>
            <a:r>
              <a:rPr lang="tr-TR" dirty="0">
                <a:sym typeface="Wingdings" pitchFamily="2" charset="2"/>
              </a:rPr>
              <a:t> possibility</a:t>
            </a:r>
          </a:p>
          <a:p>
            <a:pPr>
              <a:buNone/>
            </a:pPr>
            <a:endParaRPr lang="tr-TR" dirty="0"/>
          </a:p>
          <a:p>
            <a:r>
              <a:rPr lang="en-US" dirty="0"/>
              <a:t>If it hadn’t been directed by James Cameron, the movie </a:t>
            </a:r>
            <a:r>
              <a:rPr lang="en-US" b="1" u="sng" dirty="0"/>
              <a:t>couldn’t have reached </a:t>
            </a:r>
            <a:r>
              <a:rPr lang="en-US" dirty="0"/>
              <a:t>success. </a:t>
            </a:r>
            <a:endParaRPr lang="tr-TR" dirty="0"/>
          </a:p>
          <a:p>
            <a:pPr lvl="2"/>
            <a:r>
              <a:rPr lang="tr-TR" sz="2400" dirty="0">
                <a:sym typeface="Wingdings" pitchFamily="2" charset="2"/>
              </a:rPr>
              <a:t> Ability </a:t>
            </a:r>
            <a:endParaRPr lang="en-US" sz="2400" dirty="0"/>
          </a:p>
          <a:p>
            <a:endParaRPr lang="en-US" dirty="0"/>
          </a:p>
          <a:p>
            <a:endParaRPr lang="tr-TR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r>
              <a:rPr lang="en-US" dirty="0"/>
              <a:t>Past unreal 3</a:t>
            </a:r>
            <a:r>
              <a:rPr lang="en-US" baseline="30000" dirty="0"/>
              <a:t>rd</a:t>
            </a:r>
            <a:r>
              <a:rPr lang="en-US" dirty="0"/>
              <a:t> conditionals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pPr>
              <a:buNone/>
            </a:pP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If I </a:t>
            </a:r>
            <a:r>
              <a:rPr lang="en-US" sz="2800" b="1" u="sng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had known </a:t>
            </a:r>
            <a:r>
              <a:rPr lang="en-US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that the movie was very good, I </a:t>
            </a:r>
            <a:r>
              <a:rPr lang="en-US" sz="2800" b="1" u="sng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would have watched </a:t>
            </a:r>
            <a:r>
              <a:rPr lang="en-US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it at the movie theatre.</a:t>
            </a:r>
          </a:p>
          <a:p>
            <a:endParaRPr lang="en-US" sz="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  <a:p>
            <a:r>
              <a:rPr lang="en-US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(Reality : I didn’t know that the movie was very good, so I didn’t watch it at the movie </a:t>
            </a:r>
            <a:r>
              <a:rPr lang="en-US" sz="2800" b="1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theather</a:t>
            </a:r>
            <a:r>
              <a:rPr lang="en-US" sz="28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)</a:t>
            </a:r>
            <a:endParaRPr lang="tr-TR" sz="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buNone/>
            </a:pPr>
            <a:endParaRPr lang="en-US" dirty="0"/>
          </a:p>
          <a:p>
            <a:pPr algn="ctr"/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How </a:t>
            </a:r>
            <a:r>
              <a:rPr lang="en-US" sz="3200" b="1" u="sng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would you have felt 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if you </a:t>
            </a:r>
            <a:r>
              <a:rPr lang="en-US" sz="3200" b="1" u="sng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had been 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on Titanic?</a:t>
            </a:r>
            <a:endParaRPr lang="tr-TR" sz="3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648072"/>
          </a:xfrm>
        </p:spPr>
        <p:txBody>
          <a:bodyPr>
            <a:normAutofit/>
          </a:bodyPr>
          <a:lstStyle/>
          <a:p>
            <a:r>
              <a:rPr lang="en-US" sz="3600" b="1" dirty="0"/>
              <a:t>Form-Past unreal 3</a:t>
            </a:r>
            <a:r>
              <a:rPr lang="en-US" sz="3600" b="1" baseline="30000" dirty="0"/>
              <a:t>rd</a:t>
            </a:r>
            <a:r>
              <a:rPr lang="en-US" sz="3600" b="1" dirty="0"/>
              <a:t> conditionals </a:t>
            </a:r>
            <a:endParaRPr lang="tr-TR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435280" cy="5055840"/>
          </a:xfrm>
        </p:spPr>
        <p:txBody>
          <a:bodyPr numCol="2"/>
          <a:lstStyle/>
          <a:p>
            <a:r>
              <a:rPr lang="en-US" u="sng" dirty="0"/>
              <a:t>If clause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pPr>
              <a:buNone/>
            </a:pPr>
            <a:endParaRPr lang="en-US" sz="2000" u="sng" dirty="0"/>
          </a:p>
          <a:p>
            <a:r>
              <a:rPr lang="en-US" u="sng" dirty="0"/>
              <a:t>Result clause</a:t>
            </a:r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r>
              <a:rPr lang="en-US" u="sng" dirty="0"/>
              <a:t>Result clause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pPr>
              <a:buNone/>
            </a:pPr>
            <a:endParaRPr lang="en-US" sz="2000" u="sng" dirty="0"/>
          </a:p>
          <a:p>
            <a:r>
              <a:rPr lang="en-US" u="sng" dirty="0"/>
              <a:t>If clause</a:t>
            </a:r>
          </a:p>
          <a:p>
            <a:endParaRPr lang="en-US" u="sng" dirty="0"/>
          </a:p>
          <a:p>
            <a:pPr>
              <a:buNone/>
            </a:pPr>
            <a:endParaRPr lang="tr-TR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1916832"/>
            <a:ext cx="3096344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 Jack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75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had been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rich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75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0B5CC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+ S + past perfect (V3)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0B5CC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4581128"/>
            <a:ext cx="4104456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Jack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would have got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first-class ticket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BB76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S + would/could/might + have + V3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9992" y="1844824"/>
            <a:ext cx="3960440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75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would have got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first-class ticket.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BB76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S + would/could/might + have + V3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8024" y="4581128"/>
            <a:ext cx="309634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 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had been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rich.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0B5CC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+ S + past perfect (V3)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0B5CC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19872" y="342900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rte" pitchFamily="66" charset="0"/>
                <a:ea typeface="+mn-ea"/>
                <a:cs typeface="+mn-cs"/>
              </a:rPr>
              <a:t>OR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orte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9552" y="476672"/>
            <a:ext cx="8229600" cy="780696"/>
          </a:xfrm>
        </p:spPr>
        <p:txBody>
          <a:bodyPr>
            <a:normAutofit fontScale="90000"/>
          </a:bodyPr>
          <a:lstStyle/>
          <a:p>
            <a:r>
              <a:rPr lang="en-US" dirty="0"/>
              <a:t>Negative Form </a:t>
            </a:r>
            <a:endParaRPr lang="tr-TR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435280" cy="5055840"/>
          </a:xfrm>
        </p:spPr>
        <p:txBody>
          <a:bodyPr numCol="2"/>
          <a:lstStyle/>
          <a:p>
            <a:r>
              <a:rPr lang="en-US" u="sng" dirty="0"/>
              <a:t>If clause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pPr>
              <a:buNone/>
            </a:pPr>
            <a:endParaRPr lang="en-US" sz="2000" u="sng" dirty="0"/>
          </a:p>
          <a:p>
            <a:r>
              <a:rPr lang="en-US" u="sng" dirty="0"/>
              <a:t>Result clause</a:t>
            </a:r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r>
              <a:rPr lang="en-US" u="sng" dirty="0"/>
              <a:t>Result clause</a:t>
            </a:r>
          </a:p>
          <a:p>
            <a:endParaRPr lang="en-US" u="sng" dirty="0"/>
          </a:p>
          <a:p>
            <a:endParaRPr lang="en-US" u="sng" dirty="0"/>
          </a:p>
          <a:p>
            <a:endParaRPr lang="en-US" u="sng" dirty="0"/>
          </a:p>
          <a:p>
            <a:pPr>
              <a:buNone/>
            </a:pPr>
            <a:endParaRPr lang="en-US" u="sng" dirty="0"/>
          </a:p>
          <a:p>
            <a:pPr>
              <a:buNone/>
            </a:pPr>
            <a:endParaRPr lang="en-US" sz="2000" u="sng" dirty="0"/>
          </a:p>
          <a:p>
            <a:r>
              <a:rPr lang="en-US" u="sng" dirty="0"/>
              <a:t>If clause</a:t>
            </a:r>
          </a:p>
          <a:p>
            <a:endParaRPr lang="en-US" u="sng" dirty="0"/>
          </a:p>
          <a:p>
            <a:pPr>
              <a:buNone/>
            </a:pPr>
            <a:endParaRPr lang="tr-TR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467544" y="1916832"/>
            <a:ext cx="345638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 Rose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hadn’t been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beautiful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4847">
                    <a:lumMod val="75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0B5CC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AD00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(had not = hadn’t)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528" y="4581128"/>
            <a:ext cx="4104456" cy="1261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Jack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wouldn’t have loved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Rose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AD00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(would not = wouldn’t, might not = mightn’t, could not = couldn’t)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9992" y="1916832"/>
            <a:ext cx="3960440" cy="984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Jack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wouldn’t have loved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her.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BB76D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AD00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(would not = wouldn’t, might not = mightn’t, could not = couldn’t)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8024" y="4581128"/>
            <a:ext cx="331236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if she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6C7D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hadn’t been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beautiful.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60B5CC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60B5CC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AD00">
                    <a:lumMod val="50000"/>
                  </a:srgbClr>
                </a:solidFill>
                <a:effectLst/>
                <a:uLnTx/>
                <a:uFillTx/>
                <a:latin typeface="Constantia"/>
                <a:ea typeface="+mn-ea"/>
                <a:cs typeface="+mn-cs"/>
              </a:rPr>
              <a:t>(had not = hadn’t)</a:t>
            </a:r>
            <a:endParaRPr kumimoji="0" lang="tr-TR" sz="1600" b="1" i="0" u="none" strike="noStrike" kern="1200" cap="none" spc="0" normalizeH="0" baseline="0" noProof="0" dirty="0">
              <a:ln>
                <a:noFill/>
              </a:ln>
              <a:solidFill>
                <a:srgbClr val="F0AD00">
                  <a:lumMod val="50000"/>
                </a:srgbClr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9872" y="342900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orte" pitchFamily="66" charset="0"/>
                <a:ea typeface="+mn-ea"/>
                <a:cs typeface="+mn-cs"/>
              </a:rPr>
              <a:t>OR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orte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you have done?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man was walking down the street when he found $100 bills lying on the ground. There was no one else around. He picked them up and put them in his pocket.</a:t>
            </a:r>
          </a:p>
          <a:p>
            <a:endParaRPr lang="en-US" dirty="0"/>
          </a:p>
          <a:p>
            <a:r>
              <a:rPr lang="en-US" dirty="0"/>
              <a:t>A woman came home late and found her apartment door unlocked. She was sure she had locked it. No one else had the keys. She went inside. </a:t>
            </a:r>
            <a:endParaRPr lang="tr-T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652904"/>
          </a:xfrm>
        </p:spPr>
        <p:txBody>
          <a:bodyPr>
            <a:normAutofit/>
          </a:bodyPr>
          <a:lstStyle/>
          <a:p>
            <a:r>
              <a:rPr lang="en-US" dirty="0"/>
              <a:t>If you hadn’t been born, what would have been different?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21088"/>
            <a:ext cx="8229600" cy="2103512"/>
          </a:xfrm>
        </p:spPr>
        <p:txBody>
          <a:bodyPr/>
          <a:lstStyle/>
          <a:p>
            <a:endParaRPr lang="tr-T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MIXED CONDITIONALS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85776"/>
            <a:ext cx="7772400" cy="1143000"/>
          </a:xfrm>
        </p:spPr>
        <p:txBody>
          <a:bodyPr/>
          <a:lstStyle/>
          <a:p>
            <a:pPr algn="ctr"/>
            <a:r>
              <a:rPr lang="tr-TR" dirty="0"/>
              <a:t>M</a:t>
            </a:r>
            <a:r>
              <a:rPr lang="en-US" dirty="0" err="1"/>
              <a:t>ixed</a:t>
            </a:r>
            <a:r>
              <a:rPr lang="en-US" dirty="0"/>
              <a:t> Conditionals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642974"/>
            <a:ext cx="7772400" cy="6500802"/>
          </a:xfrm>
        </p:spPr>
        <p:txBody>
          <a:bodyPr>
            <a:normAutofit/>
          </a:bodyPr>
          <a:lstStyle/>
          <a:p>
            <a:r>
              <a:rPr lang="en-US" dirty="0"/>
              <a:t>Function: When the time in the ‘</a:t>
            </a:r>
            <a:r>
              <a:rPr lang="en-US" dirty="0">
                <a:solidFill>
                  <a:srgbClr val="FF0000"/>
                </a:solidFill>
              </a:rPr>
              <a:t>if clause</a:t>
            </a:r>
            <a:r>
              <a:rPr lang="en-US" dirty="0"/>
              <a:t>’ if different from the time in the ‘result clause’</a:t>
            </a:r>
          </a:p>
          <a:p>
            <a:endParaRPr lang="en-US" dirty="0"/>
          </a:p>
          <a:p>
            <a:r>
              <a:rPr lang="en-US" dirty="0"/>
              <a:t>Form 1:</a:t>
            </a:r>
          </a:p>
          <a:p>
            <a:pPr lvl="1"/>
            <a:r>
              <a:rPr lang="en-US" dirty="0"/>
              <a:t>If + had + V3, would + </a:t>
            </a:r>
            <a:r>
              <a:rPr lang="en-US" dirty="0" err="1"/>
              <a:t>Vbase</a:t>
            </a:r>
            <a:r>
              <a:rPr lang="en-US" dirty="0"/>
              <a:t>                (types 3 and 2)</a:t>
            </a:r>
          </a:p>
          <a:p>
            <a:pPr lvl="1"/>
            <a:r>
              <a:rPr lang="en-US" dirty="0"/>
              <a:t>Would + </a:t>
            </a:r>
            <a:r>
              <a:rPr lang="en-US" dirty="0" err="1"/>
              <a:t>Vbase</a:t>
            </a:r>
            <a:r>
              <a:rPr lang="en-US" dirty="0"/>
              <a:t> + if + had +V3</a:t>
            </a:r>
          </a:p>
          <a:p>
            <a:pPr lvl="4"/>
            <a:r>
              <a:rPr lang="en-US" dirty="0"/>
              <a:t>Example:</a:t>
            </a:r>
          </a:p>
          <a:p>
            <a:pPr lvl="5">
              <a:buNone/>
            </a:pPr>
            <a:r>
              <a:rPr lang="en-US" dirty="0"/>
              <a:t>       If I had passed the COPE,   I wouldn’t be at BUSEL.</a:t>
            </a:r>
          </a:p>
          <a:p>
            <a:pPr lvl="5">
              <a:buNone/>
            </a:pPr>
            <a:r>
              <a:rPr lang="en-US" dirty="0"/>
              <a:t>               </a:t>
            </a:r>
            <a:r>
              <a:rPr lang="en-US" i="1" dirty="0">
                <a:solidFill>
                  <a:srgbClr val="0070C0"/>
                </a:solidFill>
              </a:rPr>
              <a:t>past situation                        present result</a:t>
            </a:r>
          </a:p>
          <a:p>
            <a:r>
              <a:rPr lang="en-US" dirty="0"/>
              <a:t>Form 2:</a:t>
            </a:r>
          </a:p>
          <a:p>
            <a:pPr lvl="1"/>
            <a:r>
              <a:rPr lang="en-US" dirty="0"/>
              <a:t>If + V2, would have + V3                (types 2 and 3)</a:t>
            </a:r>
          </a:p>
          <a:p>
            <a:pPr lvl="1"/>
            <a:r>
              <a:rPr lang="en-US" dirty="0"/>
              <a:t>Would have + V3 + if + V2</a:t>
            </a:r>
          </a:p>
          <a:p>
            <a:pPr lvl="4"/>
            <a:r>
              <a:rPr lang="en-US" dirty="0"/>
              <a:t>Example:</a:t>
            </a:r>
          </a:p>
          <a:p>
            <a:pPr lvl="4">
              <a:buNone/>
            </a:pPr>
            <a:r>
              <a:rPr lang="en-US" dirty="0"/>
              <a:t>         If I was/were more sensible,   I would have saved more money.</a:t>
            </a:r>
          </a:p>
          <a:p>
            <a:pPr lvl="4">
              <a:buNone/>
            </a:pPr>
            <a:r>
              <a:rPr lang="en-US" i="1" dirty="0">
                <a:solidFill>
                  <a:srgbClr val="0070C0"/>
                </a:solidFill>
              </a:rPr>
              <a:t>                  present situation                                  past result</a:t>
            </a:r>
          </a:p>
          <a:p>
            <a:pPr lvl="4">
              <a:buNone/>
            </a:pPr>
            <a:r>
              <a:rPr lang="en-US" i="1" dirty="0">
                <a:solidFill>
                  <a:srgbClr val="0070C0"/>
                </a:solidFill>
              </a:rPr>
              <a:t>   </a:t>
            </a:r>
            <a:endParaRPr lang="tr-TR" i="1" dirty="0">
              <a:solidFill>
                <a:srgbClr val="0070C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000628" y="2714620"/>
            <a:ext cx="78581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143504" y="2786058"/>
            <a:ext cx="6429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714612" y="3929066"/>
            <a:ext cx="2243071" cy="71438"/>
          </a:xfrm>
          <a:custGeom>
            <a:avLst/>
            <a:gdLst>
              <a:gd name="connsiteX0" fmla="*/ 0 w 2243071"/>
              <a:gd name="connsiteY0" fmla="*/ 66541 h 440028"/>
              <a:gd name="connsiteX1" fmla="*/ 1107583 w 2243071"/>
              <a:gd name="connsiteY1" fmla="*/ 440028 h 440028"/>
              <a:gd name="connsiteX2" fmla="*/ 2073499 w 2243071"/>
              <a:gd name="connsiteY2" fmla="*/ 66541 h 440028"/>
              <a:gd name="connsiteX3" fmla="*/ 2125014 w 2243071"/>
              <a:gd name="connsiteY3" fmla="*/ 40783 h 44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071" h="440028">
                <a:moveTo>
                  <a:pt x="0" y="66541"/>
                </a:moveTo>
                <a:cubicBezTo>
                  <a:pt x="381000" y="253284"/>
                  <a:pt x="762000" y="440028"/>
                  <a:pt x="1107583" y="440028"/>
                </a:cubicBezTo>
                <a:cubicBezTo>
                  <a:pt x="1453166" y="440028"/>
                  <a:pt x="1903927" y="133082"/>
                  <a:pt x="2073499" y="66541"/>
                </a:cubicBezTo>
                <a:cubicBezTo>
                  <a:pt x="2243071" y="0"/>
                  <a:pt x="2184042" y="20391"/>
                  <a:pt x="2125014" y="4078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5072066" y="3929066"/>
            <a:ext cx="1867437" cy="71438"/>
          </a:xfrm>
          <a:custGeom>
            <a:avLst/>
            <a:gdLst>
              <a:gd name="connsiteX0" fmla="*/ 0 w 1867437"/>
              <a:gd name="connsiteY0" fmla="*/ 51515 h 420709"/>
              <a:gd name="connsiteX1" fmla="*/ 965916 w 1867437"/>
              <a:gd name="connsiteY1" fmla="*/ 412123 h 420709"/>
              <a:gd name="connsiteX2" fmla="*/ 1867437 w 1867437"/>
              <a:gd name="connsiteY2" fmla="*/ 0 h 420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437" h="420709">
                <a:moveTo>
                  <a:pt x="0" y="51515"/>
                </a:moveTo>
                <a:cubicBezTo>
                  <a:pt x="327338" y="236112"/>
                  <a:pt x="654677" y="420709"/>
                  <a:pt x="965916" y="412123"/>
                </a:cubicBezTo>
                <a:cubicBezTo>
                  <a:pt x="1277155" y="403537"/>
                  <a:pt x="1572296" y="201768"/>
                  <a:pt x="1867437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500562" y="5000636"/>
            <a:ext cx="78581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643438" y="5072074"/>
            <a:ext cx="642942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643174" y="6286520"/>
            <a:ext cx="2643206" cy="71438"/>
          </a:xfrm>
          <a:custGeom>
            <a:avLst/>
            <a:gdLst>
              <a:gd name="connsiteX0" fmla="*/ 0 w 2243071"/>
              <a:gd name="connsiteY0" fmla="*/ 66541 h 440028"/>
              <a:gd name="connsiteX1" fmla="*/ 1107583 w 2243071"/>
              <a:gd name="connsiteY1" fmla="*/ 440028 h 440028"/>
              <a:gd name="connsiteX2" fmla="*/ 2073499 w 2243071"/>
              <a:gd name="connsiteY2" fmla="*/ 66541 h 440028"/>
              <a:gd name="connsiteX3" fmla="*/ 2125014 w 2243071"/>
              <a:gd name="connsiteY3" fmla="*/ 40783 h 44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071" h="440028">
                <a:moveTo>
                  <a:pt x="0" y="66541"/>
                </a:moveTo>
                <a:cubicBezTo>
                  <a:pt x="381000" y="253284"/>
                  <a:pt x="762000" y="440028"/>
                  <a:pt x="1107583" y="440028"/>
                </a:cubicBezTo>
                <a:cubicBezTo>
                  <a:pt x="1453166" y="440028"/>
                  <a:pt x="1903927" y="133082"/>
                  <a:pt x="2073499" y="66541"/>
                </a:cubicBezTo>
                <a:cubicBezTo>
                  <a:pt x="2243071" y="0"/>
                  <a:pt x="2184042" y="20391"/>
                  <a:pt x="2125014" y="4078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5429256" y="6286520"/>
            <a:ext cx="2928958" cy="45719"/>
          </a:xfrm>
          <a:custGeom>
            <a:avLst/>
            <a:gdLst>
              <a:gd name="connsiteX0" fmla="*/ 0 w 1867437"/>
              <a:gd name="connsiteY0" fmla="*/ 51515 h 420709"/>
              <a:gd name="connsiteX1" fmla="*/ 965916 w 1867437"/>
              <a:gd name="connsiteY1" fmla="*/ 412123 h 420709"/>
              <a:gd name="connsiteX2" fmla="*/ 1867437 w 1867437"/>
              <a:gd name="connsiteY2" fmla="*/ 0 h 420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437" h="420709">
                <a:moveTo>
                  <a:pt x="0" y="51515"/>
                </a:moveTo>
                <a:cubicBezTo>
                  <a:pt x="327338" y="236112"/>
                  <a:pt x="654677" y="420709"/>
                  <a:pt x="965916" y="412123"/>
                </a:cubicBezTo>
                <a:cubicBezTo>
                  <a:pt x="1277155" y="403537"/>
                  <a:pt x="1572296" y="201768"/>
                  <a:pt x="1867437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9592" y="1124744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i="1" cap="small" dirty="0">
                <a:latin typeface="+mj-lt"/>
              </a:rPr>
              <a:t>she didn't sign up for the ski trip last week</a:t>
            </a:r>
          </a:p>
          <a:p>
            <a:pPr>
              <a:buNone/>
            </a:pPr>
            <a:r>
              <a:rPr lang="en-US" sz="3200" i="1" cap="small" dirty="0">
                <a:latin typeface="+mj-lt"/>
              </a:rPr>
              <a:t>and she does not join us today.</a:t>
            </a:r>
          </a:p>
          <a:p>
            <a:pPr>
              <a:buNone/>
            </a:pPr>
            <a:endParaRPr lang="en-US" sz="3200" i="1" cap="small" dirty="0">
              <a:latin typeface="+mj-lt"/>
            </a:endParaRPr>
          </a:p>
          <a:p>
            <a:pPr>
              <a:buNone/>
            </a:pPr>
            <a:r>
              <a:rPr lang="en-US" sz="3200" dirty="0"/>
              <a:t>If she </a:t>
            </a:r>
            <a:r>
              <a:rPr lang="en-US" sz="3200" b="1" dirty="0"/>
              <a:t>had signed</a:t>
            </a:r>
            <a:r>
              <a:rPr lang="en-US" sz="3200" dirty="0"/>
              <a:t> up for the ski trip last week, she </a:t>
            </a:r>
            <a:r>
              <a:rPr lang="en-US" sz="3200" b="1" dirty="0"/>
              <a:t>would join</a:t>
            </a:r>
            <a:r>
              <a:rPr lang="en-US" sz="3200" dirty="0"/>
              <a:t> us today. 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cap="small" dirty="0" err="1">
                <a:latin typeface="Arial" pitchFamily="34" charset="0"/>
                <a:cs typeface="Arial" pitchFamily="34" charset="0"/>
              </a:rPr>
              <a:t>darren</a:t>
            </a:r>
            <a:r>
              <a:rPr lang="en-US" cap="small" dirty="0">
                <a:latin typeface="Arial" pitchFamily="34" charset="0"/>
                <a:cs typeface="Arial" pitchFamily="34" charset="0"/>
              </a:rPr>
              <a:t> wasted his </a:t>
            </a:r>
            <a:r>
              <a:rPr lang="en-US" cap="small" dirty="0" err="1">
                <a:latin typeface="Arial" pitchFamily="34" charset="0"/>
                <a:cs typeface="Arial" pitchFamily="34" charset="0"/>
              </a:rPr>
              <a:t>christmas</a:t>
            </a:r>
            <a:r>
              <a:rPr lang="en-US" cap="small" dirty="0">
                <a:latin typeface="Arial" pitchFamily="34" charset="0"/>
                <a:cs typeface="Arial" pitchFamily="34" charset="0"/>
              </a:rPr>
              <a:t> bonus gambling in Las Vegas and he is not coming to </a:t>
            </a:r>
            <a:r>
              <a:rPr lang="en-US" cap="small" dirty="0" err="1">
                <a:latin typeface="Arial" pitchFamily="34" charset="0"/>
                <a:cs typeface="Arial" pitchFamily="34" charset="0"/>
              </a:rPr>
              <a:t>mexico</a:t>
            </a:r>
            <a:r>
              <a:rPr lang="en-US" cap="small" dirty="0">
                <a:latin typeface="Arial" pitchFamily="34" charset="0"/>
                <a:cs typeface="Arial" pitchFamily="34" charset="0"/>
              </a:rPr>
              <a:t> with us next month.</a:t>
            </a:r>
          </a:p>
          <a:p>
            <a:pPr>
              <a:buNone/>
            </a:pPr>
            <a:endParaRPr lang="en-US" cap="small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/>
              <a:t>If Darren </a:t>
            </a:r>
            <a:r>
              <a:rPr lang="en-US" b="1" dirty="0"/>
              <a:t>hadn't wasted</a:t>
            </a:r>
            <a:r>
              <a:rPr lang="en-US" dirty="0"/>
              <a:t> his Christmas bonus gambling in Las Vegas, he </a:t>
            </a:r>
            <a:r>
              <a:rPr lang="en-US" b="1" dirty="0"/>
              <a:t>would go</a:t>
            </a:r>
            <a:r>
              <a:rPr lang="en-US" dirty="0"/>
              <a:t> to Mexico with us next month.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cap="small" dirty="0"/>
              <a:t> I am not currently rich and that is why I didn't buy the Ferrari  yesterday.</a:t>
            </a:r>
          </a:p>
          <a:p>
            <a:pPr>
              <a:buNone/>
            </a:pPr>
            <a:endParaRPr lang="en-US" sz="3200" cap="small" dirty="0"/>
          </a:p>
          <a:p>
            <a:pPr>
              <a:buNone/>
            </a:pPr>
            <a:r>
              <a:rPr lang="en-US" sz="3200" dirty="0"/>
              <a:t>If I </a:t>
            </a:r>
            <a:r>
              <a:rPr lang="en-US" sz="3200" b="1" dirty="0"/>
              <a:t>were</a:t>
            </a:r>
            <a:r>
              <a:rPr lang="en-US" sz="3200" dirty="0"/>
              <a:t> rich, I </a:t>
            </a:r>
            <a:r>
              <a:rPr lang="en-US" sz="3200" b="1" dirty="0"/>
              <a:t>would have bought</a:t>
            </a:r>
            <a:r>
              <a:rPr lang="en-US" sz="3200" dirty="0"/>
              <a:t> that Ferrari we saw yesterday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cap="small" dirty="0"/>
              <a:t>I </a:t>
            </a:r>
            <a:r>
              <a:rPr lang="en-US" sz="3200" cap="small" dirty="0"/>
              <a:t>have to work a lot and that is why I didn't go to the party last night.</a:t>
            </a:r>
          </a:p>
          <a:p>
            <a:pPr>
              <a:buNone/>
            </a:pPr>
            <a:endParaRPr lang="en-US" sz="3200" cap="small" dirty="0"/>
          </a:p>
          <a:p>
            <a:pPr>
              <a:buNone/>
            </a:pPr>
            <a:endParaRPr lang="en-US" sz="3200" cap="small" dirty="0"/>
          </a:p>
          <a:p>
            <a:pPr>
              <a:buNone/>
            </a:pPr>
            <a:r>
              <a:rPr lang="en-US" sz="3200" dirty="0"/>
              <a:t>If I </a:t>
            </a:r>
            <a:r>
              <a:rPr lang="en-US" sz="3200" b="1" dirty="0"/>
              <a:t>didn't have</a:t>
            </a:r>
            <a:r>
              <a:rPr lang="en-US" sz="3200" dirty="0"/>
              <a:t> to work so much, I </a:t>
            </a:r>
            <a:r>
              <a:rPr lang="en-US" sz="3200" b="1" dirty="0"/>
              <a:t>would have gone</a:t>
            </a:r>
            <a:r>
              <a:rPr lang="en-US" sz="3200" dirty="0"/>
              <a:t> to the party last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LET’S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9592" y="1844824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a. Tom is not going to come to dinner tomorrow because you insulted him yesterday.</a:t>
            </a:r>
          </a:p>
          <a:p>
            <a:pPr>
              <a:buNone/>
            </a:pPr>
            <a:r>
              <a:rPr lang="en-US" sz="3600" dirty="0"/>
              <a:t>b. But, he …………….(come)  if you ………………. (insult)  him. </a:t>
            </a:r>
            <a:br>
              <a:rPr lang="en-US" sz="3600" dirty="0"/>
            </a:b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a. Marie is unhappy because she gave up her career when she got married. </a:t>
            </a:r>
          </a:p>
          <a:p>
            <a:pPr>
              <a:buNone/>
            </a:pPr>
            <a:r>
              <a:rPr lang="en-US" sz="3600" dirty="0"/>
              <a:t>b. But, Marie ……………(be)  happy if she …………….. (give, not)  up her career when she got married.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24744"/>
            <a:ext cx="7772400" cy="48950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a. Dr. Mercer decided not to accept the research grant at Harvard because he is going to take six months off to spend more time with his family. </a:t>
            </a:r>
          </a:p>
          <a:p>
            <a:pPr>
              <a:buNone/>
            </a:pPr>
            <a:r>
              <a:rPr lang="en-US" sz="3600" dirty="0"/>
              <a:t>b. But, Dr. Mercer ……………(accept)  the research grant at Harvard if he ……….(take, not)  six months off to spend more time with his family. 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600" dirty="0"/>
              <a:t>a. Professor Schmitz talked so much about the </a:t>
            </a:r>
            <a:r>
              <a:rPr lang="en-US" sz="3600" dirty="0" err="1"/>
              <a:t>Maasai</a:t>
            </a:r>
            <a:r>
              <a:rPr lang="en-US" sz="3600" dirty="0"/>
              <a:t> tribe because she is an expert on African tribal groups. </a:t>
            </a:r>
          </a:p>
          <a:p>
            <a:pPr>
              <a:buNone/>
            </a:pPr>
            <a:r>
              <a:rPr lang="en-US" sz="3600" dirty="0"/>
              <a:t>b. But, Professor Schmitz …………..(talk, not)  so much about the </a:t>
            </a:r>
            <a:r>
              <a:rPr lang="en-US" sz="3600" dirty="0" err="1"/>
              <a:t>Maasai</a:t>
            </a:r>
            <a:r>
              <a:rPr lang="en-US" sz="3600" dirty="0"/>
              <a:t> tribe if she ……………..(be, not)  an expert on African tribal groups. 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a. I am unemployed because I had a disagreement with my boss and I was fired. </a:t>
            </a:r>
          </a:p>
          <a:p>
            <a:pPr>
              <a:buNone/>
            </a:pPr>
            <a:r>
              <a:rPr lang="en-US" sz="3600" dirty="0"/>
              <a:t>b. But, I ………………(be, not)  unemployed if I ………………….(have, not)  a disagreement with my boss and I (be, not)  fired.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600" dirty="0"/>
              <a:t>a. The hotels filled up months in advance because the festival is going to include jazz artists from around the globe. </a:t>
            </a:r>
          </a:p>
          <a:p>
            <a:pPr>
              <a:buNone/>
            </a:pPr>
            <a:r>
              <a:rPr lang="en-US" sz="3600" dirty="0"/>
              <a:t>b. But, the hotels …………(fill)  up months in advance if the festival …………(include)  jazz artists from around the globe. 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chemeClr val="accent1"/>
                </a:solidFill>
                <a:latin typeface="Arial Narrow" panose="020B0606020202030204" pitchFamily="34" charset="0"/>
              </a:rPr>
              <a:t>Now, let’s focus on </a:t>
            </a:r>
            <a:r>
              <a:rPr lang="en-US" sz="3000" b="1" dirty="0">
                <a:solidFill>
                  <a:srgbClr val="FF0000"/>
                </a:solidFill>
                <a:latin typeface="Arial Narrow" panose="020B0606020202030204" pitchFamily="34" charset="0"/>
              </a:rPr>
              <a:t>in case.</a:t>
            </a:r>
            <a:br>
              <a:rPr lang="en-US" sz="3000" b="1" dirty="0">
                <a:solidFill>
                  <a:srgbClr val="FF0000"/>
                </a:solidFill>
                <a:latin typeface="Arial Narrow" panose="020B0606020202030204" pitchFamily="34" charset="0"/>
              </a:rPr>
            </a:br>
            <a:endParaRPr lang="en-US" sz="30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95395"/>
            <a:ext cx="7886700" cy="3263504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2700" dirty="0">
                <a:latin typeface="Arial Narrow" panose="020B0606020202030204" pitchFamily="34" charset="0"/>
              </a:rPr>
              <a:t>We have saved some money </a:t>
            </a:r>
            <a:r>
              <a:rPr lang="en-US" altLang="en-US" sz="2700" dirty="0">
                <a:solidFill>
                  <a:srgbClr val="FF0000"/>
                </a:solidFill>
                <a:latin typeface="Arial Narrow" panose="020B0606020202030204" pitchFamily="34" charset="0"/>
              </a:rPr>
              <a:t>in case </a:t>
            </a:r>
            <a:r>
              <a:rPr lang="en-US" altLang="en-US" sz="2700" dirty="0">
                <a:latin typeface="Arial Narrow" panose="020B0606020202030204" pitchFamily="34" charset="0"/>
              </a:rPr>
              <a:t>we don’t find a cheap place in a short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700" dirty="0">
                <a:latin typeface="Arial Narrow" panose="020B0606020202030204" pitchFamily="34" charset="0"/>
              </a:rPr>
              <a:t>Why have they saved money?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700" dirty="0">
                <a:latin typeface="Arial Narrow" panose="020B0606020202030204" pitchFamily="34" charset="0"/>
              </a:rPr>
              <a:t>Will they or won’t they find a cheap place in a short time?</a:t>
            </a:r>
          </a:p>
          <a:p>
            <a:r>
              <a:rPr lang="en-US" altLang="en-US" sz="2700" dirty="0">
                <a:latin typeface="Arial Narrow" panose="020B0606020202030204" pitchFamily="34" charset="0"/>
              </a:rPr>
              <a:t>Take my Spanish friend’s phone number </a:t>
            </a:r>
            <a:r>
              <a:rPr lang="en-US" altLang="en-US" sz="2700" dirty="0">
                <a:solidFill>
                  <a:srgbClr val="FF0000"/>
                </a:solidFill>
                <a:latin typeface="Arial Narrow" panose="020B0606020202030204" pitchFamily="34" charset="0"/>
              </a:rPr>
              <a:t>in case </a:t>
            </a:r>
            <a:r>
              <a:rPr lang="en-US" altLang="en-US" sz="2700" dirty="0">
                <a:latin typeface="Arial Narrow" panose="020B0606020202030204" pitchFamily="34" charset="0"/>
              </a:rPr>
              <a:t>you need help with anything.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700" dirty="0">
                <a:latin typeface="Arial Narrow" panose="020B0606020202030204" pitchFamily="34" charset="0"/>
              </a:rPr>
              <a:t>Why are they taking the phone number?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700" dirty="0">
                <a:latin typeface="Arial Narrow" panose="020B0606020202030204" pitchFamily="34" charset="0"/>
              </a:rPr>
              <a:t>Will they or won’t they need help with anything?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700" dirty="0">
                <a:latin typeface="Arial Narrow" panose="020B0606020202030204" pitchFamily="34" charset="0"/>
              </a:rPr>
              <a:t> We use present simple tense with in case, but it refers to future time!</a:t>
            </a:r>
          </a:p>
          <a:p>
            <a:pPr marL="0" indent="0">
              <a:buNone/>
            </a:pPr>
            <a:endParaRPr lang="en-US" sz="27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sz="27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sz="2700" dirty="0">
              <a:latin typeface="Arial Narrow" panose="020B0606020202030204" pitchFamily="34" charset="0"/>
            </a:endParaRPr>
          </a:p>
          <a:p>
            <a:endParaRPr lang="tr-TR" altLang="en-US" sz="27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sz="27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8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3155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If</a:t>
            </a:r>
            <a:r>
              <a:rPr lang="en-US" dirty="0">
                <a:latin typeface="Arial Narrow" panose="020B0606020202030204" pitchFamily="34" charset="0"/>
              </a:rPr>
              <a:t> vs. 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In case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28650" y="1562100"/>
          <a:ext cx="78867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407733312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40288323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IF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 Narrow" panose="020B0606020202030204" pitchFamily="34" charset="0"/>
                        </a:rPr>
                        <a:t>IN CASE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34826362"/>
                  </a:ext>
                </a:extLst>
              </a:tr>
              <a:tr h="482346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used to express the condition of a clause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introduces </a:t>
                      </a:r>
                      <a:r>
                        <a:rPr lang="en-US" sz="2400" b="1" dirty="0">
                          <a:solidFill>
                            <a:srgbClr val="00B0F0"/>
                          </a:solidFill>
                          <a:latin typeface="Arial Narrow" panose="020B0606020202030204" pitchFamily="34" charset="0"/>
                        </a:rPr>
                        <a:t>condition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used to represent the actions happening due to the condition.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we should do an action AFTER </a:t>
                      </a:r>
                      <a:r>
                        <a:rPr lang="en-US" sz="2400">
                          <a:latin typeface="Arial Narrow" panose="020B0606020202030204" pitchFamily="34" charset="0"/>
                        </a:rPr>
                        <a:t>something happens</a:t>
                      </a:r>
                      <a:endParaRPr lang="en-US" sz="2400" dirty="0">
                        <a:latin typeface="Arial Narrow" panose="020B0606020202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dirty="0">
                        <a:latin typeface="Arial Narrow" panose="020B0606020202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dirty="0">
                        <a:latin typeface="Arial Narrow" panose="020B0606020202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dirty="0">
                        <a:solidFill>
                          <a:srgbClr val="00B0F0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400" dirty="0">
                        <a:latin typeface="Arial Narrow" panose="020B0606020202030204" pitchFamily="34" charset="0"/>
                      </a:endParaRPr>
                    </a:p>
                    <a:p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used</a:t>
                      </a:r>
                      <a:r>
                        <a:rPr lang="en-US" sz="2400" b="0" dirty="0">
                          <a:solidFill>
                            <a:schemeClr val="accent1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to talk about things we do in order to be prepared for possible future situations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introduces </a:t>
                      </a:r>
                      <a:r>
                        <a:rPr lang="en-US" sz="2400" b="1" dirty="0">
                          <a:solidFill>
                            <a:schemeClr val="accent1"/>
                          </a:solidFill>
                          <a:latin typeface="Arial Narrow" panose="020B0606020202030204" pitchFamily="34" charset="0"/>
                        </a:rPr>
                        <a:t>possibility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used to represent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precautions</a:t>
                      </a:r>
                      <a:r>
                        <a:rPr lang="en-US" sz="2400" dirty="0">
                          <a:latin typeface="Arial Narrow" panose="020B0606020202030204" pitchFamily="34" charset="0"/>
                        </a:rPr>
                        <a:t> we take for future situations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dirty="0">
                          <a:latin typeface="Arial Narrow" panose="020B0606020202030204" pitchFamily="34" charset="0"/>
                        </a:rPr>
                        <a:t>we should do an action BEFORE something happens (or doesn’t happen)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dirty="0">
                        <a:latin typeface="Arial Narrow" panose="020B0606020202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1" dirty="0">
                        <a:solidFill>
                          <a:schemeClr val="accent1"/>
                        </a:solidFill>
                        <a:latin typeface="Arial Narrow" panose="020B0606020202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dirty="0">
                        <a:latin typeface="Arial Narrow" panose="020B0606020202030204" pitchFamily="34" charset="0"/>
                      </a:endParaRPr>
                    </a:p>
                    <a:p>
                      <a:endParaRPr lang="en-US" sz="2400" dirty="0">
                        <a:latin typeface="Arial Narrow" panose="020B0606020202030204" pitchFamily="34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05655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8132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29522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Arial Narrow" panose="020B0606020202030204" pitchFamily="34" charset="0"/>
              </a:rPr>
              <a:t>Complete the blanks with </a:t>
            </a:r>
            <a:r>
              <a:rPr lang="en-US" sz="3000" i="1" dirty="0">
                <a:solidFill>
                  <a:srgbClr val="FF0000"/>
                </a:solidFill>
                <a:latin typeface="Arial Narrow" panose="020B0606020202030204" pitchFamily="34" charset="0"/>
              </a:rPr>
              <a:t>if</a:t>
            </a:r>
            <a:r>
              <a:rPr lang="en-US" sz="3000" dirty="0">
                <a:latin typeface="Arial Narrow" panose="020B0606020202030204" pitchFamily="34" charset="0"/>
              </a:rPr>
              <a:t> or </a:t>
            </a:r>
            <a:r>
              <a:rPr lang="en-US" sz="3000" i="1" dirty="0">
                <a:solidFill>
                  <a:srgbClr val="FF0000"/>
                </a:solidFill>
                <a:latin typeface="Arial Narrow" panose="020B0606020202030204" pitchFamily="34" charset="0"/>
              </a:rPr>
              <a:t>in</a:t>
            </a:r>
            <a:r>
              <a:rPr lang="en-US" sz="3000" i="1" dirty="0">
                <a:latin typeface="Arial Narrow" panose="020B0606020202030204" pitchFamily="34" charset="0"/>
              </a:rPr>
              <a:t> </a:t>
            </a:r>
            <a:r>
              <a:rPr lang="en-US" sz="3000" i="1" dirty="0">
                <a:solidFill>
                  <a:srgbClr val="FF0000"/>
                </a:solidFill>
                <a:latin typeface="Arial Narrow" panose="020B0606020202030204" pitchFamily="34" charset="0"/>
              </a:rPr>
              <a:t>case</a:t>
            </a:r>
            <a:r>
              <a:rPr lang="en-US" sz="3000" dirty="0">
                <a:solidFill>
                  <a:srgbClr val="FF0000"/>
                </a:solidFill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0616"/>
            <a:ext cx="7886700" cy="3829357"/>
          </a:xfrm>
        </p:spPr>
        <p:txBody>
          <a:bodyPr>
            <a:noAutofit/>
          </a:bodyPr>
          <a:lstStyle/>
          <a:p>
            <a:pPr marL="385763" indent="-385763"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Tom may come today. I will stay home all day _______ he comes.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Tom may come today. I will stay home all day __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in case</a:t>
            </a:r>
            <a:r>
              <a:rPr lang="en-US" dirty="0">
                <a:latin typeface="Arial Narrow" panose="020B0606020202030204" pitchFamily="34" charset="0"/>
              </a:rPr>
              <a:t>__ he comes.</a:t>
            </a:r>
          </a:p>
          <a:p>
            <a:pPr marL="385763" indent="-385763">
              <a:buFont typeface="+mj-lt"/>
              <a:buAutoNum type="arabicPeriod" startAt="2"/>
            </a:pPr>
            <a:r>
              <a:rPr lang="en-US" dirty="0">
                <a:latin typeface="Arial Narrow" panose="020B0606020202030204" pitchFamily="34" charset="0"/>
              </a:rPr>
              <a:t>You must call the police _______ your car is stolen.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You must call the police __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if</a:t>
            </a:r>
            <a:r>
              <a:rPr lang="en-US" dirty="0">
                <a:latin typeface="Arial Narrow" panose="020B0606020202030204" pitchFamily="34" charset="0"/>
              </a:rPr>
              <a:t>__ your car is stolen.</a:t>
            </a:r>
          </a:p>
          <a:p>
            <a:pPr marL="385763" indent="-385763">
              <a:buFont typeface="+mj-lt"/>
              <a:buAutoNum type="arabicPeriod" startAt="3"/>
            </a:pPr>
            <a:r>
              <a:rPr lang="en-US" dirty="0">
                <a:latin typeface="Arial Narrow" panose="020B0606020202030204" pitchFamily="34" charset="0"/>
              </a:rPr>
              <a:t>You can stay with us _______ you come to İstanbul.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You can stay with us __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if</a:t>
            </a:r>
            <a:r>
              <a:rPr lang="en-US" dirty="0">
                <a:latin typeface="Arial Narrow" panose="020B0606020202030204" pitchFamily="34" charset="0"/>
              </a:rPr>
              <a:t>__ you come to İstanbul.</a:t>
            </a:r>
          </a:p>
          <a:p>
            <a:pPr marL="385763" indent="-385763">
              <a:buFont typeface="+mj-lt"/>
              <a:buAutoNum type="arabicPeriod" startAt="4"/>
            </a:pPr>
            <a:r>
              <a:rPr lang="en-US" dirty="0">
                <a:latin typeface="Arial Narrow" panose="020B0606020202030204" pitchFamily="34" charset="0"/>
              </a:rPr>
              <a:t>Take some more money _______ you need during your travel.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Take some more money __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in case</a:t>
            </a:r>
            <a:r>
              <a:rPr lang="en-US" dirty="0">
                <a:latin typeface="Arial Narrow" panose="020B0606020202030204" pitchFamily="34" charset="0"/>
              </a:rPr>
              <a:t>__ you need during your travel.</a:t>
            </a:r>
          </a:p>
          <a:p>
            <a:pPr marL="385763" indent="-385763">
              <a:buFont typeface="+mj-lt"/>
              <a:buAutoNum type="arabicPeriod" startAt="5"/>
            </a:pPr>
            <a:r>
              <a:rPr lang="en-US" dirty="0">
                <a:latin typeface="Arial Narrow" panose="020B0606020202030204" pitchFamily="34" charset="0"/>
              </a:rPr>
              <a:t>We should insure our car _______ we have an accident.</a:t>
            </a:r>
          </a:p>
          <a:p>
            <a:pPr mar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      We should insure our car __</a:t>
            </a:r>
            <a:r>
              <a:rPr lang="en-US" dirty="0">
                <a:solidFill>
                  <a:srgbClr val="FF0000"/>
                </a:solidFill>
                <a:latin typeface="Arial Narrow" panose="020B0606020202030204" pitchFamily="34" charset="0"/>
              </a:rPr>
              <a:t>in case</a:t>
            </a:r>
            <a:r>
              <a:rPr lang="en-US" dirty="0">
                <a:latin typeface="Arial Narrow" panose="020B0606020202030204" pitchFamily="34" charset="0"/>
              </a:rPr>
              <a:t>__ we have an accident.</a:t>
            </a: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marL="385763" indent="-385763"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0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low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786</TotalTime>
  <Words>2969</Words>
  <Application>Microsoft Macintosh PowerPoint</Application>
  <PresentationFormat>Ekran Gösterisi (4:3)</PresentationFormat>
  <Paragraphs>313</Paragraphs>
  <Slides>49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14</vt:i4>
      </vt:variant>
      <vt:variant>
        <vt:lpstr>Tema</vt:lpstr>
      </vt:variant>
      <vt:variant>
        <vt:i4>4</vt:i4>
      </vt:variant>
      <vt:variant>
        <vt:lpstr>Slayt Başlıkları</vt:lpstr>
      </vt:variant>
      <vt:variant>
        <vt:i4>49</vt:i4>
      </vt:variant>
    </vt:vector>
  </HeadingPairs>
  <TitlesOfParts>
    <vt:vector size="67" baseType="lpstr">
      <vt:lpstr>-webkit-standard</vt:lpstr>
      <vt:lpstr>Arial</vt:lpstr>
      <vt:lpstr>Arial Narrow</vt:lpstr>
      <vt:lpstr>Bookman Old Style</vt:lpstr>
      <vt:lpstr>Calibri</vt:lpstr>
      <vt:lpstr>Calibri Light</vt:lpstr>
      <vt:lpstr>Constantia</vt:lpstr>
      <vt:lpstr>Forte</vt:lpstr>
      <vt:lpstr>Franklin Gothic Book</vt:lpstr>
      <vt:lpstr>Gill Sans MT</vt:lpstr>
      <vt:lpstr>Perpetua</vt:lpstr>
      <vt:lpstr>Wingdings</vt:lpstr>
      <vt:lpstr>Wingdings 2</vt:lpstr>
      <vt:lpstr>Wingdings 3</vt:lpstr>
      <vt:lpstr>Metro</vt:lpstr>
      <vt:lpstr>Equity</vt:lpstr>
      <vt:lpstr>Office Theme</vt:lpstr>
      <vt:lpstr>Flow</vt:lpstr>
      <vt:lpstr>What 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Conditional II (present/future – impossible)</vt:lpstr>
      <vt:lpstr>Let’s analyze the form</vt:lpstr>
      <vt:lpstr>If Clauses (unreal present)</vt:lpstr>
      <vt:lpstr>Remember:</vt:lpstr>
      <vt:lpstr>Some examples for different forms</vt:lpstr>
      <vt:lpstr>Practice time</vt:lpstr>
      <vt:lpstr> Paraphrase the following sentences by using if type 2.</vt:lpstr>
      <vt:lpstr>Complete the sentences using if type 1 or 2.</vt:lpstr>
      <vt:lpstr>PowerPoint Sunusu</vt:lpstr>
      <vt:lpstr>Complete the sentences to make them true for you.</vt:lpstr>
      <vt:lpstr>PowerPoint Sunusu</vt:lpstr>
      <vt:lpstr>PowerPoint Sunusu</vt:lpstr>
      <vt:lpstr>Past unreal 3rd conditionals </vt:lpstr>
      <vt:lpstr>Past unreal 3rd conditionals </vt:lpstr>
      <vt:lpstr>Past unreal 3rd conditionals </vt:lpstr>
      <vt:lpstr>We use 3rd conditionals to talk about ;</vt:lpstr>
      <vt:lpstr>PowerPoint Sunusu</vt:lpstr>
      <vt:lpstr>Past unreal 3rd conditionals </vt:lpstr>
      <vt:lpstr>PowerPoint Sunusu</vt:lpstr>
      <vt:lpstr>Form-Past unreal 3rd conditionals </vt:lpstr>
      <vt:lpstr>Negative Form </vt:lpstr>
      <vt:lpstr>What would you have done?</vt:lpstr>
      <vt:lpstr>If you hadn’t been born, what would have been different?</vt:lpstr>
      <vt:lpstr>MIXED CONDITIONALS</vt:lpstr>
      <vt:lpstr>Mixed Conditionals</vt:lpstr>
      <vt:lpstr>PowerPoint Sunusu</vt:lpstr>
      <vt:lpstr>PowerPoint Sunusu</vt:lpstr>
      <vt:lpstr>PowerPoint Sunusu</vt:lpstr>
      <vt:lpstr>PowerPoint Sunusu</vt:lpstr>
      <vt:lpstr>LET’S PRACTICE</vt:lpstr>
      <vt:lpstr>PowerPoint Sunusu</vt:lpstr>
      <vt:lpstr>PowerPoint Sunusu</vt:lpstr>
      <vt:lpstr>PowerPoint Sunusu</vt:lpstr>
      <vt:lpstr>PowerPoint Sunusu</vt:lpstr>
      <vt:lpstr>PowerPoint Sunusu</vt:lpstr>
      <vt:lpstr>Now, let’s focus on in case. </vt:lpstr>
      <vt:lpstr>If vs. In case</vt:lpstr>
      <vt:lpstr>Complete the blanks with if or in case.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elite</dc:creator>
  <cp:lastModifiedBy>Merve Sanal</cp:lastModifiedBy>
  <cp:revision>57</cp:revision>
  <dcterms:created xsi:type="dcterms:W3CDTF">2012-06-14T06:22:12Z</dcterms:created>
  <dcterms:modified xsi:type="dcterms:W3CDTF">2026-04-08T20:52:37Z</dcterms:modified>
  <cp:contentStatus/>
</cp:coreProperties>
</file>